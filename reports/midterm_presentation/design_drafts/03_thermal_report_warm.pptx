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3"/>
          </a:solidFill>
          <a:ln w="12700">
            <a:solidFill>
              <a:srgbClr val="F7EFE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822960"/>
            <a:ext cx="2377440" cy="292608"/>
          </a:xfrm>
          <a:prstGeom prst="rect">
            <a:avLst/>
          </a:prstGeom>
          <a:solidFill>
            <a:srgbClr val="D9844A">
              <a:alpha val="42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8312" y="1133856"/>
            <a:ext cx="2377440" cy="292608"/>
          </a:xfrm>
          <a:prstGeom prst="rect">
            <a:avLst/>
          </a:prstGeom>
          <a:solidFill>
            <a:srgbClr val="B85042">
              <a:alpha val="46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15784" y="1444752"/>
            <a:ext cx="2377440" cy="292608"/>
          </a:xfrm>
          <a:prstGeom prst="rect">
            <a:avLst/>
          </a:prstGeom>
          <a:solidFill>
            <a:srgbClr val="D9844A">
              <a:alpha val="50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63256" y="1755648"/>
            <a:ext cx="2377440" cy="292608"/>
          </a:xfrm>
          <a:prstGeom prst="rect">
            <a:avLst/>
          </a:prstGeom>
          <a:solidFill>
            <a:srgbClr val="B85042">
              <a:alpha val="54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0728" y="2066544"/>
            <a:ext cx="2377440" cy="292608"/>
          </a:xfrm>
          <a:prstGeom prst="rect">
            <a:avLst/>
          </a:prstGeom>
          <a:solidFill>
            <a:srgbClr val="D9844A">
              <a:alpha val="58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2377440"/>
            <a:ext cx="2377440" cy="292608"/>
          </a:xfrm>
          <a:prstGeom prst="rect">
            <a:avLst/>
          </a:prstGeom>
          <a:solidFill>
            <a:srgbClr val="B85042">
              <a:alpha val="62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5672" y="2688336"/>
            <a:ext cx="2377440" cy="292608"/>
          </a:xfrm>
          <a:prstGeom prst="rect">
            <a:avLst/>
          </a:prstGeom>
          <a:solidFill>
            <a:srgbClr val="D9844A">
              <a:alpha val="66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53144" y="2999232"/>
            <a:ext cx="2377440" cy="292608"/>
          </a:xfrm>
          <a:prstGeom prst="rect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00616" y="3310128"/>
            <a:ext cx="2377440" cy="292608"/>
          </a:xfrm>
          <a:prstGeom prst="rect">
            <a:avLst/>
          </a:prstGeom>
          <a:solidFill>
            <a:srgbClr val="D9844A">
              <a:alpha val="74000"/>
            </a:srgbClr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731520"/>
            <a:ext cx="10744200" cy="5440680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8992" y="987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중간발표 시안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60704" y="1828800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400" dirty="0"/>
          </a:p>
        </p:txBody>
      </p:sp>
      <p:sp>
        <p:nvSpPr>
          <p:cNvPr id="58" name="Text 56"/>
          <p:cNvSpPr/>
          <p:nvPr/>
        </p:nvSpPr>
        <p:spPr>
          <a:xfrm>
            <a:off x="1078992" y="370332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 판단을 위한 분석·예측·이상탐지 검증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7607808" y="4109314"/>
            <a:ext cx="2487168" cy="526694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39482" y="3875227"/>
            <a:ext cx="380390" cy="248717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02752" y="3728923"/>
            <a:ext cx="380390" cy="395021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66022" y="3567989"/>
            <a:ext cx="380390" cy="555955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68282" y="3377794"/>
            <a:ext cx="277978" cy="746150"/>
          </a:xfrm>
          <a:prstGeom prst="rect">
            <a:avLst/>
          </a:prstGeom>
          <a:solidFill>
            <a:srgbClr val="E8D5BC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0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66176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68512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70848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73184" y="4248302"/>
            <a:ext cx="168250" cy="131674"/>
          </a:xfrm>
          <a:prstGeom prst="rect">
            <a:avLst/>
          </a:prstGeom>
          <a:solidFill>
            <a:srgbClr val="251A12">
              <a:alpha val="85000"/>
            </a:srgbClr>
          </a:solidFill>
          <a:ln w="10160">
            <a:solidFill>
              <a:srgbClr val="251A12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875520" y="3509467"/>
            <a:ext cx="731520" cy="-307238"/>
          </a:xfrm>
          <a:prstGeom prst="line">
            <a:avLst/>
          </a:prstGeom>
          <a:noFill/>
          <a:ln w="25400">
            <a:solidFill>
              <a:srgbClr val="B85042">
                <a:alpha val="9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875520" y="3772814"/>
            <a:ext cx="914400" cy="-117043"/>
          </a:xfrm>
          <a:prstGeom prst="line">
            <a:avLst/>
          </a:prstGeom>
          <a:noFill/>
          <a:ln w="17780">
            <a:solidFill>
              <a:srgbClr val="D9844A">
                <a:alpha val="7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07040" y="3165653"/>
            <a:ext cx="87782" cy="8778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67974" y="3604565"/>
            <a:ext cx="73152" cy="73152"/>
          </a:xfrm>
          <a:prstGeom prst="ellipse">
            <a:avLst/>
          </a:prstGeom>
          <a:solidFill>
            <a:srgbClr val="D9844A"/>
          </a:solidFill>
          <a:ln w="12700">
            <a:solidFill>
              <a:srgbClr val="D9844A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78992" y="5440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64208"/>
            <a:ext cx="3063240" cy="950976"/>
          </a:xfrm>
          <a:prstGeom prst="round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75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5727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727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정책·운영 압력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80560" y="1664208"/>
            <a:ext cx="3063240" cy="950976"/>
          </a:xfrm>
          <a:prstGeom prst="round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451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03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303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흐름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138160" y="166420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887968" y="1828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87968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출처·범위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29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75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5727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5727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수립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4805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303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2303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예측·탐지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38160" y="3081528"/>
            <a:ext cx="3063240" cy="950976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02752" y="3246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8879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87968" y="36118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결과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41248" y="4983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시안에는 1~3쪽만 제작했습니다.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EC7AA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EC7AA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91640"/>
            <a:ext cx="1645920" cy="1097280"/>
          </a:xfrm>
          <a:prstGeom prst="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1691640"/>
            <a:ext cx="1645920" cy="1097280"/>
          </a:xfrm>
          <a:prstGeom prst="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4436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1691640"/>
            <a:ext cx="1645920" cy="1097280"/>
          </a:xfrm>
          <a:prstGeom prst="rect">
            <a:avLst/>
          </a:prstGeom>
          <a:solidFill>
            <a:srgbClr val="B85042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0" y="1691640"/>
            <a:ext cx="1645920" cy="1097280"/>
          </a:xfrm>
          <a:prstGeom prst="rect">
            <a:avLst/>
          </a:prstGeom>
          <a:solidFill>
            <a:srgbClr val="D9844A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67728" y="20848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EF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축적되는 고해상도 계측 데이터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96112" y="3794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A64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전력 · 냉난방 · PV/CHP · 기상 · 계량기별 부하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0" y="3182112"/>
            <a:ext cx="4526280" cy="1444752"/>
          </a:xfrm>
          <a:prstGeom prst="roundRect">
            <a:avLst/>
          </a:prstGeom>
          <a:solidFill>
            <a:srgbClr val="FFF9EF"/>
          </a:solidFill>
          <a:ln w="10160">
            <a:solidFill>
              <a:srgbClr val="DEC7AA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E2F2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판단으로 연결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9516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1A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· 이상탐지 · 피크관리 · 질의/요약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열지도 리포트 웜</dc:title>
  <dc:subject>중간발표 디자인 시안 열지도 리포트 웜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