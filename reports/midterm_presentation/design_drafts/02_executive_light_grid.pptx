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8912" y="475488"/>
            <a:ext cx="11311128" cy="5870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78040" y="475488"/>
            <a:ext cx="4572000" cy="5870448"/>
          </a:xfrm>
          <a:prstGeom prst="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35240" y="3598530"/>
            <a:ext cx="3202229" cy="678119"/>
          </a:xfrm>
          <a:prstGeom prst="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04770" y="3297144"/>
            <a:ext cx="489753" cy="320223"/>
          </a:xfrm>
          <a:prstGeom prst="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29980" y="3108777"/>
            <a:ext cx="489753" cy="508589"/>
          </a:xfrm>
          <a:prstGeom prst="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55191" y="2901574"/>
            <a:ext cx="489753" cy="715792"/>
          </a:xfrm>
          <a:prstGeom prst="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159350" y="2656698"/>
            <a:ext cx="357896" cy="960669"/>
          </a:xfrm>
          <a:prstGeom prst="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64881" y="3777478"/>
            <a:ext cx="216621" cy="169530"/>
          </a:xfrm>
          <a:prstGeom prst="rect">
            <a:avLst/>
          </a:prstGeom>
          <a:solidFill>
            <a:srgbClr val="17211D">
              <a:alpha val="85000"/>
            </a:srgbClr>
          </a:solidFill>
          <a:ln w="10160">
            <a:solidFill>
              <a:srgbClr val="17211D">
                <a:alpha val="8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82889" y="3777478"/>
            <a:ext cx="216621" cy="169530"/>
          </a:xfrm>
          <a:prstGeom prst="rect">
            <a:avLst/>
          </a:prstGeom>
          <a:solidFill>
            <a:srgbClr val="17211D">
              <a:alpha val="85000"/>
            </a:srgbClr>
          </a:solidFill>
          <a:ln w="10160">
            <a:solidFill>
              <a:srgbClr val="17211D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00896" y="3777478"/>
            <a:ext cx="216621" cy="169530"/>
          </a:xfrm>
          <a:prstGeom prst="rect">
            <a:avLst/>
          </a:prstGeom>
          <a:solidFill>
            <a:srgbClr val="17211D">
              <a:alpha val="85000"/>
            </a:srgbClr>
          </a:solidFill>
          <a:ln w="10160">
            <a:solidFill>
              <a:srgbClr val="17211D">
                <a:alpha val="8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518904" y="3777478"/>
            <a:ext cx="216621" cy="169530"/>
          </a:xfrm>
          <a:prstGeom prst="rect">
            <a:avLst/>
          </a:prstGeom>
          <a:solidFill>
            <a:srgbClr val="17211D">
              <a:alpha val="85000"/>
            </a:srgbClr>
          </a:solidFill>
          <a:ln w="10160">
            <a:solidFill>
              <a:srgbClr val="17211D">
                <a:alpha val="8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036912" y="3777478"/>
            <a:ext cx="216621" cy="169530"/>
          </a:xfrm>
          <a:prstGeom prst="rect">
            <a:avLst/>
          </a:prstGeom>
          <a:solidFill>
            <a:srgbClr val="17211D">
              <a:alpha val="85000"/>
            </a:srgbClr>
          </a:solidFill>
          <a:ln w="10160">
            <a:solidFill>
              <a:srgbClr val="17211D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54919" y="2826228"/>
            <a:ext cx="941832" cy="-395569"/>
          </a:xfrm>
          <a:prstGeom prst="line">
            <a:avLst/>
          </a:prstGeom>
          <a:noFill/>
          <a:ln w="25400">
            <a:solidFill>
              <a:srgbClr val="188A63">
                <a:alpha val="9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554919" y="3165287"/>
            <a:ext cx="1177290" cy="-150693"/>
          </a:xfrm>
          <a:prstGeom prst="line">
            <a:avLst/>
          </a:prstGeom>
          <a:noFill/>
          <a:ln w="17780">
            <a:solidFill>
              <a:srgbClr val="0F6F8C">
                <a:alpha val="7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496751" y="2383566"/>
            <a:ext cx="113020" cy="113020"/>
          </a:xfrm>
          <a:prstGeom prst="ellipse">
            <a:avLst/>
          </a:prstGeom>
          <a:solidFill>
            <a:srgbClr val="188A63"/>
          </a:solidFill>
          <a:ln w="12700">
            <a:solidFill>
              <a:srgbClr val="188A63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703954" y="2948666"/>
            <a:ext cx="94183" cy="94183"/>
          </a:xfrm>
          <a:prstGeom prst="ellipse">
            <a:avLst/>
          </a:prstGeom>
          <a:solidFill>
            <a:srgbClr val="0F6F8C"/>
          </a:solidFill>
          <a:ln w="12700">
            <a:solidFill>
              <a:srgbClr val="0F6F8C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52360" y="1901952"/>
            <a:ext cx="588874" cy="-378562"/>
          </a:xfrm>
          <a:prstGeom prst="line">
            <a:avLst/>
          </a:prstGeom>
          <a:noFill/>
          <a:ln w="15240">
            <a:solidFill>
              <a:srgbClr val="188A63">
                <a:alpha val="6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41234" y="1523390"/>
            <a:ext cx="588874" cy="479511"/>
          </a:xfrm>
          <a:prstGeom prst="line">
            <a:avLst/>
          </a:prstGeom>
          <a:noFill/>
          <a:ln w="15240">
            <a:solidFill>
              <a:srgbClr val="188A63">
                <a:alpha val="6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30107" y="2002902"/>
            <a:ext cx="588874" cy="-353324"/>
          </a:xfrm>
          <a:prstGeom prst="line">
            <a:avLst/>
          </a:prstGeom>
          <a:noFill/>
          <a:ln w="15240">
            <a:solidFill>
              <a:srgbClr val="188A63">
                <a:alpha val="6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218981" y="1649578"/>
            <a:ext cx="546811" cy="546811"/>
          </a:xfrm>
          <a:prstGeom prst="line">
            <a:avLst/>
          </a:prstGeom>
          <a:noFill/>
          <a:ln w="15240">
            <a:solidFill>
              <a:srgbClr val="188A63">
                <a:alpha val="6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765792" y="2196389"/>
            <a:ext cx="588874" cy="-361737"/>
          </a:xfrm>
          <a:prstGeom prst="line">
            <a:avLst/>
          </a:prstGeom>
          <a:noFill/>
          <a:ln w="15240">
            <a:solidFill>
              <a:srgbClr val="188A63">
                <a:alpha val="6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11212" y="1860804"/>
            <a:ext cx="75712" cy="75712"/>
          </a:xfrm>
          <a:prstGeom prst="ellipse">
            <a:avLst/>
          </a:prstGeom>
          <a:solidFill>
            <a:srgbClr val="188A63"/>
          </a:solidFill>
          <a:ln w="12700">
            <a:solidFill>
              <a:srgbClr val="188A63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65492" y="1815084"/>
            <a:ext cx="159837" cy="159837"/>
          </a:xfrm>
          <a:prstGeom prst="ellipse">
            <a:avLst/>
          </a:prstGeom>
          <a:solidFill>
            <a:srgbClr val="188A63">
              <a:alpha val="25000"/>
            </a:srgbClr>
          </a:solidFill>
          <a:ln w="12700">
            <a:solidFill>
              <a:srgbClr val="188A63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00086" y="1482242"/>
            <a:ext cx="75712" cy="75712"/>
          </a:xfrm>
          <a:prstGeom prst="ellipse">
            <a:avLst/>
          </a:prstGeom>
          <a:solidFill>
            <a:srgbClr val="0F6F8C"/>
          </a:solidFill>
          <a:ln w="12700">
            <a:solidFill>
              <a:srgbClr val="0F6F8C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954366" y="1436522"/>
            <a:ext cx="159837" cy="159837"/>
          </a:xfrm>
          <a:prstGeom prst="ellipse">
            <a:avLst/>
          </a:prstGeom>
          <a:solidFill>
            <a:srgbClr val="0F6F8C">
              <a:alpha val="25000"/>
            </a:srgbClr>
          </a:solidFill>
          <a:ln w="12700">
            <a:solidFill>
              <a:srgbClr val="0F6F8C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588959" y="1961754"/>
            <a:ext cx="75712" cy="75712"/>
          </a:xfrm>
          <a:prstGeom prst="ellipse">
            <a:avLst/>
          </a:prstGeom>
          <a:solidFill>
            <a:srgbClr val="188A63"/>
          </a:solidFill>
          <a:ln w="12700">
            <a:solidFill>
              <a:srgbClr val="188A63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43239" y="1916034"/>
            <a:ext cx="159837" cy="159837"/>
          </a:xfrm>
          <a:prstGeom prst="ellipse">
            <a:avLst/>
          </a:prstGeom>
          <a:solidFill>
            <a:srgbClr val="188A63">
              <a:alpha val="25000"/>
            </a:srgbClr>
          </a:solidFill>
          <a:ln w="12700">
            <a:solidFill>
              <a:srgbClr val="188A63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177833" y="1608430"/>
            <a:ext cx="75712" cy="75712"/>
          </a:xfrm>
          <a:prstGeom prst="ellipse">
            <a:avLst/>
          </a:prstGeom>
          <a:solidFill>
            <a:srgbClr val="0F6F8C"/>
          </a:solidFill>
          <a:ln w="12700">
            <a:solidFill>
              <a:srgbClr val="0F6F8C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32113" y="1562710"/>
            <a:ext cx="159837" cy="159837"/>
          </a:xfrm>
          <a:prstGeom prst="ellipse">
            <a:avLst/>
          </a:prstGeom>
          <a:solidFill>
            <a:srgbClr val="0F6F8C">
              <a:alpha val="25000"/>
            </a:srgbClr>
          </a:solidFill>
          <a:ln w="12700">
            <a:solidFill>
              <a:srgbClr val="0F6F8C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724644" y="2155241"/>
            <a:ext cx="75712" cy="75712"/>
          </a:xfrm>
          <a:prstGeom prst="ellipse">
            <a:avLst/>
          </a:prstGeom>
          <a:solidFill>
            <a:srgbClr val="188A63"/>
          </a:solidFill>
          <a:ln w="12700">
            <a:solidFill>
              <a:srgbClr val="188A63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78924" y="2109521"/>
            <a:ext cx="159837" cy="159837"/>
          </a:xfrm>
          <a:prstGeom prst="ellipse">
            <a:avLst/>
          </a:prstGeom>
          <a:solidFill>
            <a:srgbClr val="188A63">
              <a:alpha val="25000"/>
            </a:srgbClr>
          </a:solidFill>
          <a:ln w="12700">
            <a:solidFill>
              <a:srgbClr val="188A63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313518" y="1793504"/>
            <a:ext cx="75712" cy="75712"/>
          </a:xfrm>
          <a:prstGeom prst="ellipse">
            <a:avLst/>
          </a:prstGeom>
          <a:solidFill>
            <a:srgbClr val="0F6F8C"/>
          </a:solidFill>
          <a:ln w="12700">
            <a:solidFill>
              <a:srgbClr val="0F6F8C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67798" y="1747784"/>
            <a:ext cx="159837" cy="159837"/>
          </a:xfrm>
          <a:prstGeom prst="ellipse">
            <a:avLst/>
          </a:prstGeom>
          <a:solidFill>
            <a:srgbClr val="0F6F8C">
              <a:alpha val="25000"/>
            </a:srgbClr>
          </a:solidFill>
          <a:ln w="12700">
            <a:solidFill>
              <a:srgbClr val="0F6F8C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2960" y="10241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8A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제조업 에너지 운영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822960" y="187452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고해상도 EMS 기반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FEMS 데이터 인사이트</a:t>
            </a:r>
            <a:endParaRPr lang="en-US" sz="3400" dirty="0"/>
          </a:p>
        </p:txBody>
      </p:sp>
      <p:sp>
        <p:nvSpPr>
          <p:cNvPr id="80" name="Text 78"/>
          <p:cNvSpPr/>
          <p:nvPr/>
        </p:nvSpPr>
        <p:spPr>
          <a:xfrm>
            <a:off x="841248" y="3840480"/>
            <a:ext cx="5349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EMS 데이터를 실증용 기준으로 삼아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피크·설비·품질 인사이트를 검증합니다.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841248" y="55778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SKN25 최종 4팀 · 중간발표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713232" y="9601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필요성에서 시작해 데이터와 분석 방향을 거쳐 최종 목표로 이어지는 구조입니다.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60120" y="1572768"/>
            <a:ext cx="6812280" cy="384048"/>
          </a:xfrm>
          <a:prstGeom prst="round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43000" y="1682496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88A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719072" y="165506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960120" y="2139696"/>
            <a:ext cx="6812280" cy="384048"/>
          </a:xfrm>
          <a:prstGeom prst="round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43000" y="224942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88A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719072" y="222199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개요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960120" y="2706624"/>
            <a:ext cx="6812280" cy="384048"/>
          </a:xfrm>
          <a:prstGeom prst="round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43000" y="2816352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88A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719072" y="27889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960120" y="3273552"/>
            <a:ext cx="68122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43000" y="3383280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719072" y="335584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EDA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960120" y="3840480"/>
            <a:ext cx="68122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43000" y="3950208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719072" y="392277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모델링/FEMS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960120" y="4407408"/>
            <a:ext cx="68122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43000" y="4517136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1719072" y="448970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진행현황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960120" y="4974336"/>
            <a:ext cx="6812280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43000" y="508406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719072" y="50566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8275320" y="1600200"/>
            <a:ext cx="2560320" cy="3611880"/>
          </a:xfrm>
          <a:prstGeom prst="round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549640" y="1965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초반 3장 역할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577072" y="2578608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정의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구조 안내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필요성 설득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D8E1DC">
                <a:alpha val="2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D8E1DC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754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필요성</a:t>
            </a:r>
            <a:endParaRPr lang="en-US" sz="2500" dirty="0"/>
          </a:p>
        </p:txBody>
      </p:sp>
      <p:sp>
        <p:nvSpPr>
          <p:cNvPr id="46" name="Text 44"/>
          <p:cNvSpPr/>
          <p:nvPr/>
        </p:nvSpPr>
        <p:spPr>
          <a:xfrm>
            <a:off x="685800" y="9692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73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압력과 내부 EMS 데이터를 운영 판단으로 연결하는 체계가 필요합니다.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1691640"/>
            <a:ext cx="315468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15568" y="19751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8A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압력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115568" y="26517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CBAM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K-ETS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탄소중립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에너지 비용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526280" y="1691640"/>
            <a:ext cx="3154680" cy="3108960"/>
          </a:xfrm>
          <a:prstGeom prst="roundRect">
            <a:avLst/>
          </a:prstGeom>
          <a:solidFill>
            <a:srgbClr val="E8EFEA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19751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8A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내부 자산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4818888" y="26517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1분·15분·1시간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계측 데이터 축적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29600" y="1691640"/>
            <a:ext cx="315468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C">
                <a:alpha val="8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22208" y="19751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8A6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판단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522208" y="265176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피크 위험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이상 후보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11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비효율 탐지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60120" y="5303520"/>
            <a:ext cx="9966960" cy="402336"/>
          </a:xfrm>
          <a:prstGeom prst="rect">
            <a:avLst/>
          </a:prstGeom>
          <a:solidFill>
            <a:srgbClr val="17211D"/>
          </a:solidFill>
          <a:ln w="12700">
            <a:solidFill>
              <a:srgbClr val="17211D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70432" y="5431536"/>
            <a:ext cx="8961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5F7F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방향: 공개 독일 EMS 데이터를 실증용 기준으로 활용해 한국 제조업 FEMS 적용 가능성을 확인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SKN25 FINAL 4Team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중간발표 디자인 시안 경영진 라이트 그리드</dc:title>
  <dc:subject>중간발표 디자인 시안 경영진 라이트 그리드</dc:subject>
  <dc:creator>Hermes Agent</dc:creator>
  <cp:lastModifiedBy>Hermes Agent</cp:lastModifiedBy>
  <cp:revision>1</cp:revision>
  <dcterms:created xsi:type="dcterms:W3CDTF">2026-05-25T05:57:12Z</dcterms:created>
  <dcterms:modified xsi:type="dcterms:W3CDTF">2026-05-25T05:57:12Z</dcterms:modified>
</cp:coreProperties>
</file>