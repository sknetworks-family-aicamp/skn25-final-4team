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90C"/>
          </a:solidFill>
          <a:ln w="12700">
            <a:solidFill>
              <a:srgbClr val="02090C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5800" y="658368"/>
            <a:ext cx="10835640" cy="5532120"/>
          </a:xfrm>
          <a:prstGeom prst="roundRect">
            <a:avLst/>
          </a:prstGeom>
          <a:solidFill>
            <a:srgbClr val="0D232A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" y="658368"/>
            <a:ext cx="201168" cy="5532120"/>
          </a:xfrm>
          <a:prstGeom prst="rect">
            <a:avLst/>
          </a:prstGeom>
          <a:solidFill>
            <a:srgbClr val="20E0C2"/>
          </a:solidFill>
          <a:ln w="12700">
            <a:solidFill>
              <a:srgbClr val="20E0C2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35240" y="4141683"/>
            <a:ext cx="2580437" cy="546445"/>
          </a:xfrm>
          <a:prstGeom prst="rect">
            <a:avLst/>
          </a:prstGeom>
          <a:solidFill>
            <a:srgbClr val="102E35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71851" y="3898819"/>
            <a:ext cx="394655" cy="258044"/>
          </a:xfrm>
          <a:prstGeom prst="rect">
            <a:avLst/>
          </a:prstGeom>
          <a:solidFill>
            <a:srgbClr val="102E35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56244" y="3747028"/>
            <a:ext cx="394655" cy="409834"/>
          </a:xfrm>
          <a:prstGeom prst="rect">
            <a:avLst/>
          </a:prstGeom>
          <a:solidFill>
            <a:srgbClr val="102E35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940637" y="3580059"/>
            <a:ext cx="394655" cy="576804"/>
          </a:xfrm>
          <a:prstGeom prst="rect">
            <a:avLst/>
          </a:prstGeom>
          <a:solidFill>
            <a:srgbClr val="102E35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669231" y="3382731"/>
            <a:ext cx="288402" cy="774131"/>
          </a:xfrm>
          <a:prstGeom prst="rect">
            <a:avLst/>
          </a:prstGeom>
          <a:solidFill>
            <a:srgbClr val="102E35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00873" y="4285884"/>
            <a:ext cx="174559" cy="136611"/>
          </a:xfrm>
          <a:prstGeom prst="rect">
            <a:avLst/>
          </a:prstGeom>
          <a:solidFill>
            <a:srgbClr val="20E0C2">
              <a:alpha val="85000"/>
            </a:srgbClr>
          </a:solidFill>
          <a:ln w="10160">
            <a:solidFill>
              <a:srgbClr val="20E0C2">
                <a:alpha val="8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18297" y="4285884"/>
            <a:ext cx="174559" cy="136611"/>
          </a:xfrm>
          <a:prstGeom prst="rect">
            <a:avLst/>
          </a:prstGeom>
          <a:solidFill>
            <a:srgbClr val="20E0C2">
              <a:alpha val="85000"/>
            </a:srgbClr>
          </a:solidFill>
          <a:ln w="10160">
            <a:solidFill>
              <a:srgbClr val="20E0C2">
                <a:alpha val="8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35720" y="4285884"/>
            <a:ext cx="174559" cy="136611"/>
          </a:xfrm>
          <a:prstGeom prst="rect">
            <a:avLst/>
          </a:prstGeom>
          <a:solidFill>
            <a:srgbClr val="20E0C2">
              <a:alpha val="85000"/>
            </a:srgbClr>
          </a:solidFill>
          <a:ln w="10160">
            <a:solidFill>
              <a:srgbClr val="20E0C2">
                <a:alpha val="8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153144" y="4285884"/>
            <a:ext cx="174559" cy="136611"/>
          </a:xfrm>
          <a:prstGeom prst="rect">
            <a:avLst/>
          </a:prstGeom>
          <a:solidFill>
            <a:srgbClr val="20E0C2">
              <a:alpha val="85000"/>
            </a:srgbClr>
          </a:solidFill>
          <a:ln w="10160">
            <a:solidFill>
              <a:srgbClr val="20E0C2">
                <a:alpha val="8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570568" y="4285884"/>
            <a:ext cx="174559" cy="136611"/>
          </a:xfrm>
          <a:prstGeom prst="rect">
            <a:avLst/>
          </a:prstGeom>
          <a:solidFill>
            <a:srgbClr val="20E0C2">
              <a:alpha val="85000"/>
            </a:srgbClr>
          </a:solidFill>
          <a:ln w="10160">
            <a:solidFill>
              <a:srgbClr val="20E0C2">
                <a:alpha val="8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987991" y="3519343"/>
            <a:ext cx="758952" cy="-318760"/>
          </a:xfrm>
          <a:prstGeom prst="line">
            <a:avLst/>
          </a:prstGeom>
          <a:noFill/>
          <a:ln w="25400">
            <a:solidFill>
              <a:srgbClr val="20E0C2">
                <a:alpha val="9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987991" y="3792565"/>
            <a:ext cx="948690" cy="-121432"/>
          </a:xfrm>
          <a:prstGeom prst="line">
            <a:avLst/>
          </a:prstGeom>
          <a:noFill/>
          <a:ln w="17780">
            <a:solidFill>
              <a:srgbClr val="6FE7FF">
                <a:alpha val="7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746943" y="3162635"/>
            <a:ext cx="91074" cy="91074"/>
          </a:xfrm>
          <a:prstGeom prst="ellipse">
            <a:avLst/>
          </a:prstGeom>
          <a:solidFill>
            <a:srgbClr val="20E0C2"/>
          </a:solidFill>
          <a:ln w="12700">
            <a:solidFill>
              <a:srgbClr val="20E0C2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913913" y="3618006"/>
            <a:ext cx="75895" cy="75895"/>
          </a:xfrm>
          <a:prstGeom prst="ellipse">
            <a:avLst/>
          </a:prstGeom>
          <a:solidFill>
            <a:srgbClr val="6FE7FF"/>
          </a:solidFill>
          <a:ln w="12700">
            <a:solidFill>
              <a:srgbClr val="6FE7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43800" y="2414016"/>
            <a:ext cx="499262" cy="-320954"/>
          </a:xfrm>
          <a:prstGeom prst="line">
            <a:avLst/>
          </a:prstGeom>
          <a:noFill/>
          <a:ln w="15240">
            <a:solidFill>
              <a:srgbClr val="20E0C2">
                <a:alpha val="6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043062" y="2093062"/>
            <a:ext cx="499262" cy="406542"/>
          </a:xfrm>
          <a:prstGeom prst="line">
            <a:avLst/>
          </a:prstGeom>
          <a:noFill/>
          <a:ln w="15240">
            <a:solidFill>
              <a:srgbClr val="20E0C2">
                <a:alpha val="6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542325" y="2499604"/>
            <a:ext cx="499262" cy="-299557"/>
          </a:xfrm>
          <a:prstGeom prst="line">
            <a:avLst/>
          </a:prstGeom>
          <a:noFill/>
          <a:ln w="15240">
            <a:solidFill>
              <a:srgbClr val="20E0C2">
                <a:alpha val="6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041587" y="2200046"/>
            <a:ext cx="463601" cy="463601"/>
          </a:xfrm>
          <a:prstGeom prst="line">
            <a:avLst/>
          </a:prstGeom>
          <a:noFill/>
          <a:ln w="15240">
            <a:solidFill>
              <a:srgbClr val="20E0C2">
                <a:alpha val="6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505188" y="2663647"/>
            <a:ext cx="499262" cy="-306690"/>
          </a:xfrm>
          <a:prstGeom prst="line">
            <a:avLst/>
          </a:prstGeom>
          <a:noFill/>
          <a:ln w="15240">
            <a:solidFill>
              <a:srgbClr val="20E0C2">
                <a:alpha val="6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02652" y="2372868"/>
            <a:ext cx="64191" cy="64191"/>
          </a:xfrm>
          <a:prstGeom prst="ellipse">
            <a:avLst/>
          </a:prstGeom>
          <a:solidFill>
            <a:srgbClr val="20E0C2"/>
          </a:solidFill>
          <a:ln w="12700">
            <a:solidFill>
              <a:srgbClr val="20E0C2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56932" y="2327148"/>
            <a:ext cx="135514" cy="135514"/>
          </a:xfrm>
          <a:prstGeom prst="ellipse">
            <a:avLst/>
          </a:prstGeom>
          <a:solidFill>
            <a:srgbClr val="20E0C2">
              <a:alpha val="25000"/>
            </a:srgbClr>
          </a:solidFill>
          <a:ln w="12700">
            <a:solidFill>
              <a:srgbClr val="20E0C2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01914" y="2051914"/>
            <a:ext cx="64191" cy="64191"/>
          </a:xfrm>
          <a:prstGeom prst="ellipse">
            <a:avLst/>
          </a:prstGeom>
          <a:solidFill>
            <a:srgbClr val="6FE7FF"/>
          </a:solidFill>
          <a:ln w="12700">
            <a:solidFill>
              <a:srgbClr val="6FE7F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56194" y="2006194"/>
            <a:ext cx="135514" cy="135514"/>
          </a:xfrm>
          <a:prstGeom prst="ellipse">
            <a:avLst/>
          </a:prstGeom>
          <a:solidFill>
            <a:srgbClr val="6FE7FF">
              <a:alpha val="25000"/>
            </a:srgbClr>
          </a:solidFill>
          <a:ln w="12700">
            <a:solidFill>
              <a:srgbClr val="6FE7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501177" y="2458456"/>
            <a:ext cx="64191" cy="64191"/>
          </a:xfrm>
          <a:prstGeom prst="ellipse">
            <a:avLst/>
          </a:prstGeom>
          <a:solidFill>
            <a:srgbClr val="20E0C2"/>
          </a:solidFill>
          <a:ln w="12700">
            <a:solidFill>
              <a:srgbClr val="20E0C2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455457" y="2412736"/>
            <a:ext cx="135514" cy="135514"/>
          </a:xfrm>
          <a:prstGeom prst="ellipse">
            <a:avLst/>
          </a:prstGeom>
          <a:solidFill>
            <a:srgbClr val="20E0C2">
              <a:alpha val="25000"/>
            </a:srgbClr>
          </a:solidFill>
          <a:ln w="12700">
            <a:solidFill>
              <a:srgbClr val="20E0C2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000439" y="2158898"/>
            <a:ext cx="64191" cy="64191"/>
          </a:xfrm>
          <a:prstGeom prst="ellipse">
            <a:avLst/>
          </a:prstGeom>
          <a:solidFill>
            <a:srgbClr val="6FE7FF"/>
          </a:solidFill>
          <a:ln w="12700">
            <a:solidFill>
              <a:srgbClr val="6FE7FF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954719" y="2113178"/>
            <a:ext cx="135514" cy="135514"/>
          </a:xfrm>
          <a:prstGeom prst="ellipse">
            <a:avLst/>
          </a:prstGeom>
          <a:solidFill>
            <a:srgbClr val="6FE7FF">
              <a:alpha val="25000"/>
            </a:srgbClr>
          </a:solidFill>
          <a:ln w="12700">
            <a:solidFill>
              <a:srgbClr val="6FE7FF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464040" y="2622499"/>
            <a:ext cx="64191" cy="64191"/>
          </a:xfrm>
          <a:prstGeom prst="ellipse">
            <a:avLst/>
          </a:prstGeom>
          <a:solidFill>
            <a:srgbClr val="20E0C2"/>
          </a:solidFill>
          <a:ln w="12700">
            <a:solidFill>
              <a:srgbClr val="20E0C2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418320" y="2576779"/>
            <a:ext cx="135514" cy="135514"/>
          </a:xfrm>
          <a:prstGeom prst="ellipse">
            <a:avLst/>
          </a:prstGeom>
          <a:solidFill>
            <a:srgbClr val="20E0C2">
              <a:alpha val="25000"/>
            </a:srgbClr>
          </a:solidFill>
          <a:ln w="12700">
            <a:solidFill>
              <a:srgbClr val="20E0C2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963302" y="2315809"/>
            <a:ext cx="64191" cy="64191"/>
          </a:xfrm>
          <a:prstGeom prst="ellipse">
            <a:avLst/>
          </a:prstGeom>
          <a:solidFill>
            <a:srgbClr val="6FE7FF"/>
          </a:solidFill>
          <a:ln w="12700">
            <a:solidFill>
              <a:srgbClr val="6FE7FF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917582" y="2270089"/>
            <a:ext cx="135514" cy="135514"/>
          </a:xfrm>
          <a:prstGeom prst="ellipse">
            <a:avLst/>
          </a:prstGeom>
          <a:solidFill>
            <a:srgbClr val="6FE7FF">
              <a:alpha val="25000"/>
            </a:srgbClr>
          </a:solidFill>
          <a:ln w="12700">
            <a:solidFill>
              <a:srgbClr val="6FE7FF">
                <a:alpha val="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97280" y="1033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0E0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중간발표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1051560" y="1847088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고해상도 EMS 기반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FEMS 데이터 인사이트</a:t>
            </a:r>
            <a:endParaRPr lang="en-US" sz="3500" dirty="0"/>
          </a:p>
        </p:txBody>
      </p:sp>
      <p:sp>
        <p:nvSpPr>
          <p:cNvPr id="81" name="Text 79"/>
          <p:cNvSpPr/>
          <p:nvPr/>
        </p:nvSpPr>
        <p:spPr>
          <a:xfrm>
            <a:off x="1078992" y="367588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EC4C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제조업 에너지 운영 판단을 위한 분석·예측·이상탐지 검증</a:t>
            </a:r>
            <a:endParaRPr lang="en-US" sz="1400" dirty="0"/>
          </a:p>
        </p:txBody>
      </p:sp>
      <p:sp>
        <p:nvSpPr>
          <p:cNvPr id="82" name="Text 80"/>
          <p:cNvSpPr/>
          <p:nvPr/>
        </p:nvSpPr>
        <p:spPr>
          <a:xfrm>
            <a:off x="1078992" y="53218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EC4C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SKN25 최종 4팀 · 중간발표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8366760" y="5230368"/>
            <a:ext cx="1417320" cy="310896"/>
          </a:xfrm>
          <a:prstGeom prst="roundRect">
            <a:avLst/>
          </a:prstGeom>
          <a:solidFill>
            <a:srgbClr val="0D232A">
              <a:alpha val="94000"/>
            </a:srgbClr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476488" y="530352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C4C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산업 데이터 분석 중심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502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 흐름</a:t>
            </a:r>
            <a:endParaRPr lang="en-US" sz="2500" dirty="0"/>
          </a:p>
        </p:txBody>
      </p:sp>
      <p:sp>
        <p:nvSpPr>
          <p:cNvPr id="46" name="Text 44"/>
          <p:cNvSpPr/>
          <p:nvPr/>
        </p:nvSpPr>
        <p:spPr>
          <a:xfrm>
            <a:off x="713232" y="9601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EC4C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필요성에서 시작해 데이터와 분석 방향을 거쳐 최종 목표로 이어지는 구조입니다.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22960" y="3063240"/>
            <a:ext cx="310896" cy="310896"/>
          </a:xfrm>
          <a:prstGeom prst="ellipse">
            <a:avLst/>
          </a:prstGeom>
          <a:solidFill>
            <a:srgbClr val="20E0C2"/>
          </a:solidFill>
          <a:ln w="12700">
            <a:solidFill>
              <a:srgbClr val="20E0C2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3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38912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필요성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170432" y="3218688"/>
            <a:ext cx="1051560" cy="0"/>
          </a:xfrm>
          <a:prstGeom prst="line">
            <a:avLst/>
          </a:prstGeom>
          <a:noFill/>
          <a:ln w="27940">
            <a:solidFill>
              <a:srgbClr val="20E0C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95728" y="3063240"/>
            <a:ext cx="310896" cy="310896"/>
          </a:xfrm>
          <a:prstGeom prst="ellipse">
            <a:avLst/>
          </a:prstGeom>
          <a:solidFill>
            <a:srgbClr val="20E0C2"/>
          </a:solidFill>
          <a:ln w="12700">
            <a:solidFill>
              <a:srgbClr val="20E0C2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95728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3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011680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개요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743200" y="3218688"/>
            <a:ext cx="1051560" cy="0"/>
          </a:xfrm>
          <a:prstGeom prst="line">
            <a:avLst/>
          </a:prstGeom>
          <a:noFill/>
          <a:ln w="27940">
            <a:solidFill>
              <a:srgbClr val="20E0C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968496" y="3063240"/>
            <a:ext cx="310896" cy="310896"/>
          </a:xfrm>
          <a:prstGeom prst="ellipse">
            <a:avLst/>
          </a:prstGeom>
          <a:solidFill>
            <a:srgbClr val="20E0C2"/>
          </a:solidFill>
          <a:ln w="12700">
            <a:solidFill>
              <a:srgbClr val="20E0C2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68496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3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584448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315968" y="3218688"/>
            <a:ext cx="1051560" cy="0"/>
          </a:xfrm>
          <a:prstGeom prst="line">
            <a:avLst/>
          </a:prstGeom>
          <a:noFill/>
          <a:ln w="2794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41264" y="3063240"/>
            <a:ext cx="310896" cy="310896"/>
          </a:xfrm>
          <a:prstGeom prst="ellipse">
            <a:avLst/>
          </a:prstGeom>
          <a:solidFill>
            <a:srgbClr val="102E35"/>
          </a:solidFill>
          <a:ln w="12700">
            <a:solidFill>
              <a:srgbClr val="102E35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41264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0E0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157216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EDA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888736" y="3218688"/>
            <a:ext cx="1051560" cy="0"/>
          </a:xfrm>
          <a:prstGeom prst="line">
            <a:avLst/>
          </a:prstGeom>
          <a:noFill/>
          <a:ln w="2794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14032" y="3063240"/>
            <a:ext cx="310896" cy="310896"/>
          </a:xfrm>
          <a:prstGeom prst="ellipse">
            <a:avLst/>
          </a:prstGeom>
          <a:solidFill>
            <a:srgbClr val="102E35"/>
          </a:solidFill>
          <a:ln w="12700">
            <a:solidFill>
              <a:srgbClr val="102E35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14032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0E0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729984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모델링/FEMS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461504" y="3218688"/>
            <a:ext cx="1051560" cy="0"/>
          </a:xfrm>
          <a:prstGeom prst="line">
            <a:avLst/>
          </a:prstGeom>
          <a:noFill/>
          <a:ln w="2794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86800" y="3063240"/>
            <a:ext cx="310896" cy="310896"/>
          </a:xfrm>
          <a:prstGeom prst="ellipse">
            <a:avLst/>
          </a:prstGeom>
          <a:solidFill>
            <a:srgbClr val="102E35"/>
          </a:solidFill>
          <a:ln w="12700">
            <a:solidFill>
              <a:srgbClr val="102E35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86800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0E0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8302752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진행현황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9034272" y="3218688"/>
            <a:ext cx="1051560" cy="0"/>
          </a:xfrm>
          <a:prstGeom prst="line">
            <a:avLst/>
          </a:prstGeom>
          <a:noFill/>
          <a:ln w="2794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259568" y="3063240"/>
            <a:ext cx="310896" cy="310896"/>
          </a:xfrm>
          <a:prstGeom prst="ellipse">
            <a:avLst/>
          </a:prstGeom>
          <a:solidFill>
            <a:srgbClr val="102E35"/>
          </a:solidFill>
          <a:ln w="12700">
            <a:solidFill>
              <a:srgbClr val="102E35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259568" y="31363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0E0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875520" y="3566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804672" y="4892040"/>
            <a:ext cx="10607040" cy="621792"/>
          </a:xfrm>
          <a:prstGeom prst="roundRect">
            <a:avLst/>
          </a:prstGeom>
          <a:solidFill>
            <a:srgbClr val="0D232A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24128" y="510235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9EC4C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시안 범위: 1쪽 표지 · 2쪽 목차 · 3쪽 프로젝트 필요성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1F4A52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1F4A52">
                <a:alpha val="2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4754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필요성</a:t>
            </a:r>
            <a:endParaRPr lang="en-US" sz="2500" dirty="0"/>
          </a:p>
        </p:txBody>
      </p:sp>
      <p:sp>
        <p:nvSpPr>
          <p:cNvPr id="46" name="Text 44"/>
          <p:cNvSpPr/>
          <p:nvPr/>
        </p:nvSpPr>
        <p:spPr>
          <a:xfrm>
            <a:off x="685800" y="96926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EC4C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압력과 내부 EMS 데이터를 운영 판단으로 연결하는 체계가 필요합니다.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04672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0E0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압력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822960" y="1993392"/>
            <a:ext cx="2743200" cy="493776"/>
          </a:xfrm>
          <a:prstGeom prst="roundRect">
            <a:avLst/>
          </a:prstGeom>
          <a:solidFill>
            <a:srgbClr val="0D232A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24128" y="2130552"/>
            <a:ext cx="201168" cy="201168"/>
          </a:xfrm>
          <a:prstGeom prst="ellipse">
            <a:avLst/>
          </a:prstGeom>
          <a:solidFill>
            <a:srgbClr val="F6C76B"/>
          </a:solidFill>
          <a:ln w="12700">
            <a:solidFill>
              <a:srgbClr val="F6C76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53312" y="2148840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CBAM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22960" y="2743200"/>
            <a:ext cx="2743200" cy="493776"/>
          </a:xfrm>
          <a:prstGeom prst="roundRect">
            <a:avLst/>
          </a:prstGeom>
          <a:solidFill>
            <a:srgbClr val="0D232A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24128" y="2880360"/>
            <a:ext cx="201168" cy="201168"/>
          </a:xfrm>
          <a:prstGeom prst="ellipse">
            <a:avLst/>
          </a:prstGeom>
          <a:solidFill>
            <a:srgbClr val="6FE7FF"/>
          </a:solidFill>
          <a:ln w="12700">
            <a:solidFill>
              <a:srgbClr val="6FE7FF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53312" y="2898648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K-ETS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22960" y="3493008"/>
            <a:ext cx="2743200" cy="493776"/>
          </a:xfrm>
          <a:prstGeom prst="roundRect">
            <a:avLst/>
          </a:prstGeom>
          <a:solidFill>
            <a:srgbClr val="0D232A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24128" y="3630168"/>
            <a:ext cx="201168" cy="201168"/>
          </a:xfrm>
          <a:prstGeom prst="ellipse">
            <a:avLst/>
          </a:prstGeom>
          <a:solidFill>
            <a:srgbClr val="F6C76B"/>
          </a:solidFill>
          <a:ln w="12700">
            <a:solidFill>
              <a:srgbClr val="F6C76B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53312" y="364845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탄소중립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822960" y="4242816"/>
            <a:ext cx="2743200" cy="493776"/>
          </a:xfrm>
          <a:prstGeom prst="roundRect">
            <a:avLst/>
          </a:prstGeom>
          <a:solidFill>
            <a:srgbClr val="0D232A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24128" y="4379976"/>
            <a:ext cx="201168" cy="201168"/>
          </a:xfrm>
          <a:prstGeom prst="ellipse">
            <a:avLst/>
          </a:prstGeom>
          <a:solidFill>
            <a:srgbClr val="6FE7FF"/>
          </a:solidFill>
          <a:ln w="12700">
            <a:solidFill>
              <a:srgbClr val="6FE7FF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353312" y="439826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에너지 비용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4572000" y="15727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0E0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EMS 데이터 활용 흐름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4617720" y="1993392"/>
            <a:ext cx="1737360" cy="621792"/>
          </a:xfrm>
          <a:prstGeom prst="roundRect">
            <a:avLst/>
          </a:prstGeom>
          <a:solidFill>
            <a:srgbClr val="20E0C2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27448" y="222199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7131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EMS 데이터</a:t>
            </a:r>
            <a:endParaRPr lang="en-US" sz="930" dirty="0"/>
          </a:p>
        </p:txBody>
      </p:sp>
      <p:sp>
        <p:nvSpPr>
          <p:cNvPr id="63" name="Shape 61"/>
          <p:cNvSpPr/>
          <p:nvPr/>
        </p:nvSpPr>
        <p:spPr>
          <a:xfrm>
            <a:off x="6373368" y="2304288"/>
            <a:ext cx="356616" cy="0"/>
          </a:xfrm>
          <a:prstGeom prst="line">
            <a:avLst/>
          </a:prstGeom>
          <a:noFill/>
          <a:ln w="19050">
            <a:solidFill>
              <a:srgbClr val="20E0C2">
                <a:alpha val="8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766560" y="1993392"/>
            <a:ext cx="1737360" cy="621792"/>
          </a:xfrm>
          <a:prstGeom prst="roundRect">
            <a:avLst/>
          </a:prstGeom>
          <a:solidFill>
            <a:srgbClr val="0D232A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76288" y="222199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예측</a:t>
            </a:r>
            <a:endParaRPr lang="en-US" sz="930" dirty="0"/>
          </a:p>
        </p:txBody>
      </p:sp>
      <p:sp>
        <p:nvSpPr>
          <p:cNvPr id="66" name="Shape 64"/>
          <p:cNvSpPr/>
          <p:nvPr/>
        </p:nvSpPr>
        <p:spPr>
          <a:xfrm>
            <a:off x="8522208" y="2304288"/>
            <a:ext cx="356616" cy="0"/>
          </a:xfrm>
          <a:prstGeom prst="line">
            <a:avLst/>
          </a:prstGeom>
          <a:noFill/>
          <a:ln w="19050">
            <a:solidFill>
              <a:srgbClr val="20E0C2">
                <a:alpha val="8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915400" y="1993392"/>
            <a:ext cx="1737360" cy="621792"/>
          </a:xfrm>
          <a:prstGeom prst="roundRect">
            <a:avLst/>
          </a:prstGeom>
          <a:solidFill>
            <a:srgbClr val="0D232A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025128" y="222199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이상탐지</a:t>
            </a:r>
            <a:endParaRPr lang="en-US" sz="930" dirty="0"/>
          </a:p>
        </p:txBody>
      </p:sp>
      <p:sp>
        <p:nvSpPr>
          <p:cNvPr id="69" name="Shape 67"/>
          <p:cNvSpPr/>
          <p:nvPr/>
        </p:nvSpPr>
        <p:spPr>
          <a:xfrm>
            <a:off x="10671048" y="2304288"/>
            <a:ext cx="356616" cy="0"/>
          </a:xfrm>
          <a:prstGeom prst="line">
            <a:avLst/>
          </a:prstGeom>
          <a:noFill/>
          <a:ln w="19050">
            <a:solidFill>
              <a:srgbClr val="20E0C2">
                <a:alpha val="8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17720" y="3136392"/>
            <a:ext cx="1737360" cy="621792"/>
          </a:xfrm>
          <a:prstGeom prst="roundRect">
            <a:avLst/>
          </a:prstGeom>
          <a:solidFill>
            <a:srgbClr val="0D232A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27448" y="336499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피크관리</a:t>
            </a:r>
            <a:endParaRPr lang="en-US" sz="930" dirty="0"/>
          </a:p>
        </p:txBody>
      </p:sp>
      <p:sp>
        <p:nvSpPr>
          <p:cNvPr id="72" name="Shape 70"/>
          <p:cNvSpPr/>
          <p:nvPr/>
        </p:nvSpPr>
        <p:spPr>
          <a:xfrm>
            <a:off x="6373368" y="3447288"/>
            <a:ext cx="356616" cy="0"/>
          </a:xfrm>
          <a:prstGeom prst="line">
            <a:avLst/>
          </a:prstGeom>
          <a:noFill/>
          <a:ln w="19050">
            <a:solidFill>
              <a:srgbClr val="20E0C2">
                <a:alpha val="8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766560" y="3136392"/>
            <a:ext cx="1737360" cy="621792"/>
          </a:xfrm>
          <a:prstGeom prst="roundRect">
            <a:avLst/>
          </a:prstGeom>
          <a:solidFill>
            <a:srgbClr val="0D232A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76288" y="336499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 운영지원</a:t>
            </a:r>
            <a:endParaRPr lang="en-US" sz="930" dirty="0"/>
          </a:p>
        </p:txBody>
      </p:sp>
      <p:sp>
        <p:nvSpPr>
          <p:cNvPr id="75" name="Shape 73"/>
          <p:cNvSpPr/>
          <p:nvPr/>
        </p:nvSpPr>
        <p:spPr>
          <a:xfrm>
            <a:off x="4617720" y="4983480"/>
            <a:ext cx="6172200" cy="658368"/>
          </a:xfrm>
          <a:prstGeom prst="roundRect">
            <a:avLst/>
          </a:prstGeom>
          <a:solidFill>
            <a:srgbClr val="102E35"/>
          </a:solidFill>
          <a:ln w="10160">
            <a:solidFill>
              <a:srgbClr val="1F4A52">
                <a:alpha val="80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28032" y="5212080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4FB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핵심: 저장된 계측값을 피크 위험·설비 이상 후보·운영 의사결정 지원으로 확장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SKN25 FINAL 4Team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중간발표 디자인 시안 산업 관제 다크</dc:title>
  <dc:subject>중간발표 디자인 시안 산업 관제 다크</dc:subject>
  <dc:creator>Hermes Agent</dc:creator>
  <cp:lastModifiedBy>Hermes Agent</cp:lastModifiedBy>
  <cp:revision>1</cp:revision>
  <dcterms:created xsi:type="dcterms:W3CDTF">2026-05-25T05:57:12Z</dcterms:created>
  <dcterms:modified xsi:type="dcterms:W3CDTF">2026-05-25T05:57:12Z</dcterms:modified>
</cp:coreProperties>
</file>