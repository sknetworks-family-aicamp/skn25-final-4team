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0C"/>
          </a:solidFill>
          <a:ln w="12700">
            <a:solidFill>
              <a:srgbClr val="02090C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658368"/>
            <a:ext cx="10835640" cy="5532120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658368"/>
            <a:ext cx="201168" cy="5532120"/>
          </a:xfrm>
          <a:prstGeom prst="rect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35240" y="4141683"/>
            <a:ext cx="2580437" cy="546445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1851" y="3898819"/>
            <a:ext cx="394655" cy="258044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56244" y="3747028"/>
            <a:ext cx="394655" cy="409834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40637" y="3580059"/>
            <a:ext cx="394655" cy="576804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69231" y="3382731"/>
            <a:ext cx="288402" cy="774131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0873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18297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35720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53144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70568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87991" y="3519343"/>
            <a:ext cx="758952" cy="-318760"/>
          </a:xfrm>
          <a:prstGeom prst="line">
            <a:avLst/>
          </a:prstGeom>
          <a:noFill/>
          <a:ln w="25400">
            <a:solidFill>
              <a:srgbClr val="20E0C2">
                <a:alpha val="9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87991" y="3792565"/>
            <a:ext cx="948690" cy="-121432"/>
          </a:xfrm>
          <a:prstGeom prst="line">
            <a:avLst/>
          </a:prstGeom>
          <a:noFill/>
          <a:ln w="17780">
            <a:solidFill>
              <a:srgbClr val="6FE7FF">
                <a:alpha val="7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46943" y="3162635"/>
            <a:ext cx="91074" cy="91074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913913" y="3618006"/>
            <a:ext cx="75895" cy="75895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43800" y="2414016"/>
            <a:ext cx="499262" cy="-320954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3062" y="2093062"/>
            <a:ext cx="499262" cy="406542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42325" y="2499604"/>
            <a:ext cx="499262" cy="-299557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41587" y="2200046"/>
            <a:ext cx="463601" cy="463601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05188" y="2663647"/>
            <a:ext cx="499262" cy="-306690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02652" y="2372868"/>
            <a:ext cx="64191" cy="64191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6932" y="2327148"/>
            <a:ext cx="135514" cy="135514"/>
          </a:xfrm>
          <a:prstGeom prst="ellipse">
            <a:avLst/>
          </a:prstGeom>
          <a:solidFill>
            <a:srgbClr val="20E0C2">
              <a:alpha val="25000"/>
            </a:srgbClr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01914" y="2051914"/>
            <a:ext cx="64191" cy="64191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6194" y="2006194"/>
            <a:ext cx="135514" cy="135514"/>
          </a:xfrm>
          <a:prstGeom prst="ellipse">
            <a:avLst/>
          </a:prstGeom>
          <a:solidFill>
            <a:srgbClr val="6FE7FF">
              <a:alpha val="25000"/>
            </a:srgbClr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01177" y="2458456"/>
            <a:ext cx="64191" cy="64191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55457" y="2412736"/>
            <a:ext cx="135514" cy="135514"/>
          </a:xfrm>
          <a:prstGeom prst="ellipse">
            <a:avLst/>
          </a:prstGeom>
          <a:solidFill>
            <a:srgbClr val="20E0C2">
              <a:alpha val="25000"/>
            </a:srgbClr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00439" y="2158898"/>
            <a:ext cx="64191" cy="64191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954719" y="2113178"/>
            <a:ext cx="135514" cy="135514"/>
          </a:xfrm>
          <a:prstGeom prst="ellipse">
            <a:avLst/>
          </a:prstGeom>
          <a:solidFill>
            <a:srgbClr val="6FE7FF">
              <a:alpha val="25000"/>
            </a:srgbClr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64040" y="2622499"/>
            <a:ext cx="64191" cy="64191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18320" y="2576779"/>
            <a:ext cx="135514" cy="135514"/>
          </a:xfrm>
          <a:prstGeom prst="ellipse">
            <a:avLst/>
          </a:prstGeom>
          <a:solidFill>
            <a:srgbClr val="20E0C2">
              <a:alpha val="25000"/>
            </a:srgbClr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963302" y="2315809"/>
            <a:ext cx="64191" cy="64191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17582" y="2270089"/>
            <a:ext cx="135514" cy="135514"/>
          </a:xfrm>
          <a:prstGeom prst="ellipse">
            <a:avLst/>
          </a:prstGeom>
          <a:solidFill>
            <a:srgbClr val="6FE7FF">
              <a:alpha val="25000"/>
            </a:srgbClr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9728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중간발표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051560" y="1847088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500" dirty="0"/>
          </a:p>
        </p:txBody>
      </p:sp>
      <p:sp>
        <p:nvSpPr>
          <p:cNvPr id="81" name="Text 79"/>
          <p:cNvSpPr/>
          <p:nvPr/>
        </p:nvSpPr>
        <p:spPr>
          <a:xfrm>
            <a:off x="1078992" y="367588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1078992" y="5321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366760" y="5230368"/>
            <a:ext cx="1417320" cy="310896"/>
          </a:xfrm>
          <a:prstGeom prst="roundRect">
            <a:avLst/>
          </a:prstGeom>
          <a:solidFill>
            <a:srgbClr val="0D232A">
              <a:alpha val="94000"/>
            </a:srgbClr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76488" y="530352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산업 데이터 분석 중심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3063240"/>
            <a:ext cx="310896" cy="310896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891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70432" y="3218688"/>
            <a:ext cx="1051560" cy="0"/>
          </a:xfrm>
          <a:prstGeom prst="line">
            <a:avLst/>
          </a:prstGeom>
          <a:noFill/>
          <a:ln w="27940">
            <a:solidFill>
              <a:srgbClr val="20E0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95728" y="3063240"/>
            <a:ext cx="310896" cy="310896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9572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1168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0" y="3218688"/>
            <a:ext cx="1051560" cy="0"/>
          </a:xfrm>
          <a:prstGeom prst="line">
            <a:avLst/>
          </a:prstGeom>
          <a:noFill/>
          <a:ln w="27940">
            <a:solidFill>
              <a:srgbClr val="20E0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68496" y="3063240"/>
            <a:ext cx="310896" cy="310896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68496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84448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15968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41264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57216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888736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14032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729984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461504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30275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034272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59568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5956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87552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04672" y="4892040"/>
            <a:ext cx="1060704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4128" y="51023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시안 범위: 1쪽 표지 · 2쪽 목차 · 3쪽 프로젝트 필요성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22960" y="1993392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" y="2130552"/>
            <a:ext cx="201168" cy="201168"/>
          </a:xfrm>
          <a:prstGeom prst="ellipse">
            <a:avLst/>
          </a:prstGeom>
          <a:solidFill>
            <a:srgbClr val="F6C76B"/>
          </a:solidFill>
          <a:ln w="12700">
            <a:solidFill>
              <a:srgbClr val="F6C76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214884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2960" y="2743200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4128" y="2880360"/>
            <a:ext cx="201168" cy="201168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28986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2960" y="3493008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4128" y="3630168"/>
            <a:ext cx="201168" cy="201168"/>
          </a:xfrm>
          <a:prstGeom prst="ellipse">
            <a:avLst/>
          </a:prstGeom>
          <a:solidFill>
            <a:srgbClr val="F6C76B"/>
          </a:solidFill>
          <a:ln w="12700">
            <a:solidFill>
              <a:srgbClr val="F6C76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53312" y="364845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22960" y="4242816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4128" y="4379976"/>
            <a:ext cx="201168" cy="201168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53312" y="439826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 활용 흐름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617720" y="1993392"/>
            <a:ext cx="1737360" cy="621792"/>
          </a:xfrm>
          <a:prstGeom prst="roundRect">
            <a:avLst/>
          </a:prstGeom>
          <a:solidFill>
            <a:srgbClr val="20E0C2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744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6373368" y="2304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66560" y="1993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7628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8522208" y="2304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15400" y="1993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2512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이상탐지</a:t>
            </a:r>
            <a:endParaRPr lang="en-US" sz="930" dirty="0"/>
          </a:p>
        </p:txBody>
      </p:sp>
      <p:sp>
        <p:nvSpPr>
          <p:cNvPr id="69" name="Shape 67"/>
          <p:cNvSpPr/>
          <p:nvPr/>
        </p:nvSpPr>
        <p:spPr>
          <a:xfrm>
            <a:off x="10671048" y="2304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17720" y="3136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2744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피크관리</a:t>
            </a:r>
            <a:endParaRPr lang="en-US" sz="930" dirty="0"/>
          </a:p>
        </p:txBody>
      </p:sp>
      <p:sp>
        <p:nvSpPr>
          <p:cNvPr id="72" name="Shape 70"/>
          <p:cNvSpPr/>
          <p:nvPr/>
        </p:nvSpPr>
        <p:spPr>
          <a:xfrm>
            <a:off x="6373368" y="3447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66560" y="3136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7628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운영지원</a:t>
            </a:r>
            <a:endParaRPr lang="en-US" sz="930" dirty="0"/>
          </a:p>
        </p:txBody>
      </p:sp>
      <p:sp>
        <p:nvSpPr>
          <p:cNvPr id="75" name="Shape 73"/>
          <p:cNvSpPr/>
          <p:nvPr/>
        </p:nvSpPr>
        <p:spPr>
          <a:xfrm>
            <a:off x="4617720" y="4983480"/>
            <a:ext cx="6172200" cy="658368"/>
          </a:xfrm>
          <a:prstGeom prst="round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28032" y="521208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저장된 계측값을 피크 위험·설비 이상 후보·운영 의사결정 지원으로 확장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" y="475488"/>
            <a:ext cx="11311128" cy="5870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475488"/>
            <a:ext cx="4572000" cy="5870448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35240" y="3598530"/>
            <a:ext cx="3202229" cy="678119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04770" y="3297144"/>
            <a:ext cx="489753" cy="320223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29980" y="3108777"/>
            <a:ext cx="489753" cy="508589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55191" y="2901574"/>
            <a:ext cx="489753" cy="715792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59350" y="2656698"/>
            <a:ext cx="357896" cy="960669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64881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82889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00896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18904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36912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54919" y="2826228"/>
            <a:ext cx="941832" cy="-395569"/>
          </a:xfrm>
          <a:prstGeom prst="line">
            <a:avLst/>
          </a:prstGeom>
          <a:noFill/>
          <a:ln w="25400">
            <a:solidFill>
              <a:srgbClr val="188A63">
                <a:alpha val="9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54919" y="3165287"/>
            <a:ext cx="1177290" cy="-150693"/>
          </a:xfrm>
          <a:prstGeom prst="line">
            <a:avLst/>
          </a:prstGeom>
          <a:noFill/>
          <a:ln w="17780">
            <a:solidFill>
              <a:srgbClr val="0F6F8C">
                <a:alpha val="7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96751" y="2383566"/>
            <a:ext cx="113020" cy="113020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03954" y="2948666"/>
            <a:ext cx="94183" cy="94183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52360" y="1901952"/>
            <a:ext cx="588874" cy="-378562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1234" y="1523390"/>
            <a:ext cx="588874" cy="479511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30107" y="2002902"/>
            <a:ext cx="588874" cy="-353324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18981" y="1649578"/>
            <a:ext cx="546811" cy="546811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65792" y="2196389"/>
            <a:ext cx="588874" cy="-361737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11212" y="1860804"/>
            <a:ext cx="75712" cy="75712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65492" y="1815084"/>
            <a:ext cx="159837" cy="159837"/>
          </a:xfrm>
          <a:prstGeom prst="ellipse">
            <a:avLst/>
          </a:prstGeom>
          <a:solidFill>
            <a:srgbClr val="188A63">
              <a:alpha val="25000"/>
            </a:srgbClr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00086" y="1482242"/>
            <a:ext cx="75712" cy="75712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54366" y="1436522"/>
            <a:ext cx="159837" cy="159837"/>
          </a:xfrm>
          <a:prstGeom prst="ellipse">
            <a:avLst/>
          </a:prstGeom>
          <a:solidFill>
            <a:srgbClr val="0F6F8C">
              <a:alpha val="25000"/>
            </a:srgbClr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88959" y="1961754"/>
            <a:ext cx="75712" cy="75712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43239" y="1916034"/>
            <a:ext cx="159837" cy="159837"/>
          </a:xfrm>
          <a:prstGeom prst="ellipse">
            <a:avLst/>
          </a:prstGeom>
          <a:solidFill>
            <a:srgbClr val="188A63">
              <a:alpha val="25000"/>
            </a:srgbClr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77833" y="1608430"/>
            <a:ext cx="75712" cy="75712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32113" y="1562710"/>
            <a:ext cx="159837" cy="159837"/>
          </a:xfrm>
          <a:prstGeom prst="ellipse">
            <a:avLst/>
          </a:prstGeom>
          <a:solidFill>
            <a:srgbClr val="0F6F8C">
              <a:alpha val="25000"/>
            </a:srgbClr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24644" y="2155241"/>
            <a:ext cx="75712" cy="75712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78924" y="2109521"/>
            <a:ext cx="159837" cy="159837"/>
          </a:xfrm>
          <a:prstGeom prst="ellipse">
            <a:avLst/>
          </a:prstGeom>
          <a:solidFill>
            <a:srgbClr val="188A63">
              <a:alpha val="25000"/>
            </a:srgbClr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13518" y="1793504"/>
            <a:ext cx="75712" cy="75712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67798" y="1747784"/>
            <a:ext cx="159837" cy="159837"/>
          </a:xfrm>
          <a:prstGeom prst="ellipse">
            <a:avLst/>
          </a:prstGeom>
          <a:solidFill>
            <a:srgbClr val="0F6F8C">
              <a:alpha val="25000"/>
            </a:srgbClr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2960" y="1024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22960" y="18745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400" dirty="0"/>
          </a:p>
        </p:txBody>
      </p:sp>
      <p:sp>
        <p:nvSpPr>
          <p:cNvPr id="80" name="Text 78"/>
          <p:cNvSpPr/>
          <p:nvPr/>
        </p:nvSpPr>
        <p:spPr>
          <a:xfrm>
            <a:off x="841248" y="384048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EMS 데이터를 실증용 기준으로 삼아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피크·설비·품질 인사이트를 검증합니다.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841248" y="5577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0120" y="1572768"/>
            <a:ext cx="6812280" cy="384048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3000" y="168249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719072" y="165506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60120" y="2139696"/>
            <a:ext cx="6812280" cy="384048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224942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719072" y="22219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960120" y="2706624"/>
            <a:ext cx="6812280" cy="384048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281635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719072" y="27889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960120" y="3273552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383280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719072" y="3355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960120" y="3840480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3000" y="395020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719072" y="39227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960120" y="4407408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43000" y="45171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719072" y="44897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960120" y="4974336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508406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719072" y="50566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8275320" y="1600200"/>
            <a:ext cx="2560320" cy="3611880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4964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초반 3장 역할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77072" y="2578608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구조 안내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 설득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1691640"/>
            <a:ext cx="31546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5568" y="19751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15568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26280" y="1691640"/>
            <a:ext cx="3154680" cy="3108960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19751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자산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818888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1분·15분·1시간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계측 데이터 축적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29600" y="1691640"/>
            <a:ext cx="31546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22208" y="19751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판단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522208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 위험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후보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비효율 탐지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60120" y="5303520"/>
            <a:ext cx="9966960" cy="402336"/>
          </a:xfrm>
          <a:prstGeom prst="rect">
            <a:avLst/>
          </a:prstGeom>
          <a:solidFill>
            <a:srgbClr val="17211D"/>
          </a:solidFill>
          <a:ln w="12700">
            <a:solidFill>
              <a:srgbClr val="17211D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70432" y="5431536"/>
            <a:ext cx="8961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F7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방향: 공개 독일 EMS 데이터를 실증용 기준으로 활용해 한국 제조업 FEMS 적용 가능성을 확인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3"/>
          </a:solidFill>
          <a:ln w="12700">
            <a:solidFill>
              <a:srgbClr val="F7EFE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0840" y="822960"/>
            <a:ext cx="2377440" cy="292608"/>
          </a:xfrm>
          <a:prstGeom prst="rect">
            <a:avLst/>
          </a:prstGeom>
          <a:solidFill>
            <a:srgbClr val="D9844A">
              <a:alpha val="42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68312" y="1133856"/>
            <a:ext cx="2377440" cy="292608"/>
          </a:xfrm>
          <a:prstGeom prst="rect">
            <a:avLst/>
          </a:prstGeom>
          <a:solidFill>
            <a:srgbClr val="B85042">
              <a:alpha val="46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15784" y="1444752"/>
            <a:ext cx="2377440" cy="292608"/>
          </a:xfrm>
          <a:prstGeom prst="rect">
            <a:avLst/>
          </a:prstGeom>
          <a:solidFill>
            <a:srgbClr val="D9844A">
              <a:alpha val="50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63256" y="1755648"/>
            <a:ext cx="2377440" cy="292608"/>
          </a:xfrm>
          <a:prstGeom prst="rect">
            <a:avLst/>
          </a:prstGeom>
          <a:solidFill>
            <a:srgbClr val="B85042">
              <a:alpha val="54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0728" y="2066544"/>
            <a:ext cx="2377440" cy="292608"/>
          </a:xfrm>
          <a:prstGeom prst="rect">
            <a:avLst/>
          </a:prstGeom>
          <a:solidFill>
            <a:srgbClr val="D9844A">
              <a:alpha val="58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58200" y="2377440"/>
            <a:ext cx="2377440" cy="292608"/>
          </a:xfrm>
          <a:prstGeom prst="rect">
            <a:avLst/>
          </a:prstGeom>
          <a:solidFill>
            <a:srgbClr val="B85042">
              <a:alpha val="62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5672" y="2688336"/>
            <a:ext cx="2377440" cy="292608"/>
          </a:xfrm>
          <a:prstGeom prst="rect">
            <a:avLst/>
          </a:prstGeom>
          <a:solidFill>
            <a:srgbClr val="D9844A">
              <a:alpha val="66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53144" y="2999232"/>
            <a:ext cx="2377440" cy="292608"/>
          </a:xfrm>
          <a:prstGeom prst="rect">
            <a:avLst/>
          </a:prstGeom>
          <a:solidFill>
            <a:srgbClr val="B85042">
              <a:alpha val="70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00616" y="3310128"/>
            <a:ext cx="2377440" cy="292608"/>
          </a:xfrm>
          <a:prstGeom prst="rect">
            <a:avLst/>
          </a:prstGeom>
          <a:solidFill>
            <a:srgbClr val="D9844A">
              <a:alpha val="74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731520"/>
            <a:ext cx="10744200" cy="5440680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8992" y="987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중간발표 시안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60704" y="182880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400" dirty="0"/>
          </a:p>
        </p:txBody>
      </p:sp>
      <p:sp>
        <p:nvSpPr>
          <p:cNvPr id="58" name="Text 56"/>
          <p:cNvSpPr/>
          <p:nvPr/>
        </p:nvSpPr>
        <p:spPr>
          <a:xfrm>
            <a:off x="1078992" y="370332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607808" y="4109314"/>
            <a:ext cx="2487168" cy="526694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39482" y="3875227"/>
            <a:ext cx="380390" cy="248717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02752" y="3728923"/>
            <a:ext cx="380390" cy="395021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66022" y="3567989"/>
            <a:ext cx="380390" cy="555955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68282" y="3377794"/>
            <a:ext cx="277978" cy="746150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0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66176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68512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70848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73184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75520" y="3509467"/>
            <a:ext cx="731520" cy="-307238"/>
          </a:xfrm>
          <a:prstGeom prst="line">
            <a:avLst/>
          </a:prstGeom>
          <a:noFill/>
          <a:ln w="25400">
            <a:solidFill>
              <a:srgbClr val="B85042">
                <a:alpha val="9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875520" y="3772814"/>
            <a:ext cx="914400" cy="-117043"/>
          </a:xfrm>
          <a:prstGeom prst="line">
            <a:avLst/>
          </a:prstGeom>
          <a:noFill/>
          <a:ln w="17780">
            <a:solidFill>
              <a:srgbClr val="D9844A">
                <a:alpha val="7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07040" y="3165653"/>
            <a:ext cx="87782" cy="8778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67974" y="3604565"/>
            <a:ext cx="73152" cy="73152"/>
          </a:xfrm>
          <a:prstGeom prst="ellipse">
            <a:avLst/>
          </a:prstGeom>
          <a:solidFill>
            <a:srgbClr val="D9844A"/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78992" y="5440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1664208"/>
            <a:ext cx="3063240" cy="950976"/>
          </a:xfrm>
          <a:prstGeom prst="roundRect">
            <a:avLst/>
          </a:prstGeom>
          <a:solidFill>
            <a:srgbClr val="B85042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72768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72768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정책·운영 압력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80560" y="1664208"/>
            <a:ext cx="3063240" cy="950976"/>
          </a:xfrm>
          <a:prstGeom prst="roundRect">
            <a:avLst/>
          </a:prstGeom>
          <a:solidFill>
            <a:srgbClr val="D9844A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5152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30368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230368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흐름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138160" y="166420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02752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887968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87968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출처·범위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2960" y="308152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755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57276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572768" y="3611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수립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480560" y="308152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4515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3036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230368" y="3611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예측·탐지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38160" y="308152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0275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88796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887968" y="3611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결과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41248" y="4983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시안에는 1~3쪽만 제작했습니다.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1691640"/>
            <a:ext cx="1645920" cy="1097280"/>
          </a:xfrm>
          <a:prstGeom prst="rect">
            <a:avLst/>
          </a:prstGeom>
          <a:solidFill>
            <a:srgbClr val="B85042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34640" y="1691640"/>
            <a:ext cx="1645920" cy="1097280"/>
          </a:xfrm>
          <a:prstGeom prst="rect">
            <a:avLst/>
          </a:prstGeom>
          <a:solidFill>
            <a:srgbClr val="D9844A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4436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1691640"/>
            <a:ext cx="1645920" cy="1097280"/>
          </a:xfrm>
          <a:prstGeom prst="rect">
            <a:avLst/>
          </a:prstGeom>
          <a:solidFill>
            <a:srgbClr val="B85042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0" y="1691640"/>
            <a:ext cx="1645920" cy="1097280"/>
          </a:xfrm>
          <a:prstGeom prst="rect">
            <a:avLst/>
          </a:prstGeom>
          <a:solidFill>
            <a:srgbClr val="D9844A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6772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축적되는 고해상도 계측 데이터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96112" y="37947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전력 · 냉난방 · PV/CHP · 기상 · 계량기별 부하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0" y="3182112"/>
            <a:ext cx="4526280" cy="1444752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판단으로 연결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95160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 · 이상탐지 · 피크관리 · 질의/요약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457200"/>
            <a:ext cx="11201400" cy="5943600"/>
          </a:xfrm>
          <a:prstGeom prst="rect">
            <a:avLst/>
          </a:prstGeom>
          <a:solidFill>
            <a:srgbClr val="0F2D52">
              <a:alpha val="95000"/>
            </a:srgbClr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" y="758952"/>
            <a:ext cx="10607040" cy="5340096"/>
          </a:xfrm>
          <a:prstGeom prst="rect">
            <a:avLst/>
          </a:prstGeom>
          <a:solidFill>
            <a:srgbClr val="081A33"/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도면 형식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120" y="1847088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300" dirty="0"/>
          </a:p>
        </p:txBody>
      </p:sp>
      <p:sp>
        <p:nvSpPr>
          <p:cNvPr id="49" name="Shape 47"/>
          <p:cNvSpPr/>
          <p:nvPr/>
        </p:nvSpPr>
        <p:spPr>
          <a:xfrm>
            <a:off x="7754112" y="3948013"/>
            <a:ext cx="2549347" cy="539862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89077" y="3708075"/>
            <a:ext cx="389900" cy="254935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66430" y="3558113"/>
            <a:ext cx="389900" cy="404896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43782" y="3393156"/>
            <a:ext cx="389900" cy="569854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63597" y="3198205"/>
            <a:ext cx="284927" cy="764804"/>
          </a:xfrm>
          <a:prstGeom prst="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16545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28939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41334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53728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66122" y="4090477"/>
            <a:ext cx="172456" cy="134965"/>
          </a:xfrm>
          <a:prstGeom prst="rect">
            <a:avLst/>
          </a:prstGeom>
          <a:solidFill>
            <a:srgbClr val="64D2FF">
              <a:alpha val="85000"/>
            </a:srgbClr>
          </a:solidFill>
          <a:ln w="10160">
            <a:solidFill>
              <a:srgbClr val="64D2FF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78517" y="3333171"/>
            <a:ext cx="749808" cy="-314919"/>
          </a:xfrm>
          <a:prstGeom prst="line">
            <a:avLst/>
          </a:prstGeom>
          <a:noFill/>
          <a:ln w="25400">
            <a:solidFill>
              <a:srgbClr val="64D2FF">
                <a:alpha val="9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78517" y="3603102"/>
            <a:ext cx="937260" cy="-119969"/>
          </a:xfrm>
          <a:prstGeom prst="line">
            <a:avLst/>
          </a:prstGeom>
          <a:noFill/>
          <a:ln w="17780">
            <a:solidFill>
              <a:srgbClr val="9BE7C7">
                <a:alpha val="7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828325" y="2980761"/>
            <a:ext cx="89977" cy="89977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93283" y="3430646"/>
            <a:ext cx="74981" cy="74981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9520" y="2221992"/>
            <a:ext cx="486461" cy="-312725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5981" y="1909267"/>
            <a:ext cx="486461" cy="396118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62442" y="2305385"/>
            <a:ext cx="486461" cy="-291876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48902" y="2013509"/>
            <a:ext cx="451714" cy="451714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00616" y="2465222"/>
            <a:ext cx="486461" cy="-298826"/>
          </a:xfrm>
          <a:prstGeom prst="line">
            <a:avLst/>
          </a:prstGeom>
          <a:noFill/>
          <a:ln w="15240">
            <a:solidFill>
              <a:srgbClr val="64D2FF">
                <a:alpha val="6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48372" y="2180844"/>
            <a:ext cx="62545" cy="62545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02652" y="2135124"/>
            <a:ext cx="132039" cy="132039"/>
          </a:xfrm>
          <a:prstGeom prst="ellipse">
            <a:avLst/>
          </a:prstGeom>
          <a:solidFill>
            <a:srgbClr val="64D2FF">
              <a:alpha val="25000"/>
            </a:srgbClr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34833" y="1868119"/>
            <a:ext cx="62545" cy="62545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89113" y="1822399"/>
            <a:ext cx="132039" cy="132039"/>
          </a:xfrm>
          <a:prstGeom prst="ellipse">
            <a:avLst/>
          </a:prstGeom>
          <a:solidFill>
            <a:srgbClr val="9BE7C7">
              <a:alpha val="25000"/>
            </a:srgbClr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21294" y="2264237"/>
            <a:ext cx="62545" cy="62545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475574" y="2218517"/>
            <a:ext cx="132039" cy="132039"/>
          </a:xfrm>
          <a:prstGeom prst="ellipse">
            <a:avLst/>
          </a:prstGeom>
          <a:solidFill>
            <a:srgbClr val="64D2FF">
              <a:alpha val="25000"/>
            </a:srgbClr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07754" y="1972361"/>
            <a:ext cx="62545" cy="62545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62034" y="1926641"/>
            <a:ext cx="132039" cy="132039"/>
          </a:xfrm>
          <a:prstGeom prst="ellipse">
            <a:avLst/>
          </a:prstGeom>
          <a:solidFill>
            <a:srgbClr val="9BE7C7">
              <a:alpha val="25000"/>
            </a:srgbClr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59468" y="2424074"/>
            <a:ext cx="62545" cy="62545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13748" y="2378354"/>
            <a:ext cx="132039" cy="132039"/>
          </a:xfrm>
          <a:prstGeom prst="ellipse">
            <a:avLst/>
          </a:prstGeom>
          <a:solidFill>
            <a:srgbClr val="64D2FF">
              <a:alpha val="25000"/>
            </a:srgbClr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45929" y="2125248"/>
            <a:ext cx="62545" cy="62545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900209" y="2079528"/>
            <a:ext cx="132039" cy="132039"/>
          </a:xfrm>
          <a:prstGeom prst="ellipse">
            <a:avLst/>
          </a:prstGeom>
          <a:solidFill>
            <a:srgbClr val="9BE7C7">
              <a:alpha val="25000"/>
            </a:srgbClr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7552" y="4069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987552" y="5687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3063240"/>
            <a:ext cx="310896" cy="310896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891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70432" y="3218688"/>
            <a:ext cx="1051560" cy="0"/>
          </a:xfrm>
          <a:prstGeom prst="line">
            <a:avLst/>
          </a:prstGeom>
          <a:noFill/>
          <a:ln w="27940">
            <a:solidFill>
              <a:srgbClr val="64D2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95728" y="3063240"/>
            <a:ext cx="310896" cy="310896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9572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1168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0" y="3218688"/>
            <a:ext cx="1051560" cy="0"/>
          </a:xfrm>
          <a:prstGeom prst="line">
            <a:avLst/>
          </a:prstGeom>
          <a:noFill/>
          <a:ln w="27940">
            <a:solidFill>
              <a:srgbClr val="64D2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68496" y="3063240"/>
            <a:ext cx="310896" cy="310896"/>
          </a:xfrm>
          <a:prstGeom prst="ellipse">
            <a:avLst/>
          </a:prstGeom>
          <a:solidFill>
            <a:srgbClr val="64D2FF"/>
          </a:solidFill>
          <a:ln w="12700">
            <a:solidFill>
              <a:srgbClr val="64D2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68496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84448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15968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41264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57216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888736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14032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729984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461504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30275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034272" y="3218688"/>
            <a:ext cx="1051560" cy="0"/>
          </a:xfrm>
          <a:prstGeom prst="line">
            <a:avLst/>
          </a:prstGeom>
          <a:noFill/>
          <a:ln w="2794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59568" y="3063240"/>
            <a:ext cx="310896" cy="310896"/>
          </a:xfrm>
          <a:prstGeom prst="ellipse">
            <a:avLst/>
          </a:prstGeom>
          <a:solidFill>
            <a:srgbClr val="103B67"/>
          </a:solidFill>
          <a:ln w="12700">
            <a:solidFill>
              <a:srgbClr val="103B67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5956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87552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04672" y="4892040"/>
            <a:ext cx="1060704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4128" y="51023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시안 범위: 1쪽 표지 · 2쪽 목차 · 3쪽 프로젝트 필요성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244B75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244B75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C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22960" y="1993392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" y="2130552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214884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2960" y="2743200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4128" y="2880360"/>
            <a:ext cx="201168" cy="201168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28986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2960" y="3493008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4128" y="3630168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53312" y="364845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22960" y="4242816"/>
            <a:ext cx="2743200" cy="493776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4128" y="4379976"/>
            <a:ext cx="201168" cy="201168"/>
          </a:xfrm>
          <a:prstGeom prst="ellipse">
            <a:avLst/>
          </a:prstGeom>
          <a:solidFill>
            <a:srgbClr val="9BE7C7"/>
          </a:solidFill>
          <a:ln w="12700">
            <a:solidFill>
              <a:srgbClr val="9BE7C7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53312" y="439826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4D2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 활용 흐름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617720" y="1993392"/>
            <a:ext cx="1737360" cy="621792"/>
          </a:xfrm>
          <a:prstGeom prst="roundRect">
            <a:avLst/>
          </a:prstGeom>
          <a:solidFill>
            <a:srgbClr val="64D2FF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744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81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6373368" y="2304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66560" y="1993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7628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8522208" y="2304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15400" y="1993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2512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이상탐지</a:t>
            </a:r>
            <a:endParaRPr lang="en-US" sz="930" dirty="0"/>
          </a:p>
        </p:txBody>
      </p:sp>
      <p:sp>
        <p:nvSpPr>
          <p:cNvPr id="69" name="Shape 67"/>
          <p:cNvSpPr/>
          <p:nvPr/>
        </p:nvSpPr>
        <p:spPr>
          <a:xfrm>
            <a:off x="10671048" y="2304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17720" y="3136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2744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피크관리</a:t>
            </a:r>
            <a:endParaRPr lang="en-US" sz="930" dirty="0"/>
          </a:p>
        </p:txBody>
      </p:sp>
      <p:sp>
        <p:nvSpPr>
          <p:cNvPr id="72" name="Shape 70"/>
          <p:cNvSpPr/>
          <p:nvPr/>
        </p:nvSpPr>
        <p:spPr>
          <a:xfrm>
            <a:off x="6373368" y="3447288"/>
            <a:ext cx="356616" cy="0"/>
          </a:xfrm>
          <a:prstGeom prst="line">
            <a:avLst/>
          </a:prstGeom>
          <a:noFill/>
          <a:ln w="19050">
            <a:solidFill>
              <a:srgbClr val="64D2FF">
                <a:alpha val="8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66560" y="3136392"/>
            <a:ext cx="1737360" cy="621792"/>
          </a:xfrm>
          <a:prstGeom prst="roundRect">
            <a:avLst/>
          </a:prstGeom>
          <a:solidFill>
            <a:srgbClr val="0F2D52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7628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운영지원</a:t>
            </a:r>
            <a:endParaRPr lang="en-US" sz="930" dirty="0"/>
          </a:p>
        </p:txBody>
      </p:sp>
      <p:sp>
        <p:nvSpPr>
          <p:cNvPr id="75" name="Shape 73"/>
          <p:cNvSpPr/>
          <p:nvPr/>
        </p:nvSpPr>
        <p:spPr>
          <a:xfrm>
            <a:off x="4617720" y="4983480"/>
            <a:ext cx="6172200" cy="658368"/>
          </a:xfrm>
          <a:prstGeom prst="roundRect">
            <a:avLst/>
          </a:prstGeom>
          <a:solidFill>
            <a:srgbClr val="103B67"/>
          </a:solidFill>
          <a:ln w="10160">
            <a:solidFill>
              <a:srgbClr val="244B75">
                <a:alpha val="8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28032" y="521208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1F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저장된 계측값을 피크 위험·설비 이상 후보·운영 의사결정 지원으로 확장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" y="621792"/>
            <a:ext cx="10771632" cy="5559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중간발표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7552" y="1828800"/>
            <a:ext cx="6126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1005840" y="37673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680960" y="1335024"/>
            <a:ext cx="2971800" cy="2971800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65008" y="3264042"/>
            <a:ext cx="2238451" cy="474025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83514" y="3053364"/>
            <a:ext cx="342351" cy="223845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90458" y="2921691"/>
            <a:ext cx="342351" cy="355519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97401" y="2776850"/>
            <a:ext cx="342351" cy="500360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29434" y="2605674"/>
            <a:ext cx="250180" cy="671535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95437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57539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19642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81744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43846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05949" y="2724180"/>
            <a:ext cx="658368" cy="-276515"/>
          </a:xfrm>
          <a:prstGeom prst="line">
            <a:avLst/>
          </a:prstGeom>
          <a:noFill/>
          <a:ln w="25400">
            <a:solidFill>
              <a:srgbClr val="FF6B35">
                <a:alpha val="9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105949" y="2961193"/>
            <a:ext cx="822960" cy="-105339"/>
          </a:xfrm>
          <a:prstGeom prst="line">
            <a:avLst/>
          </a:prstGeom>
          <a:noFill/>
          <a:ln w="17780">
            <a:solidFill>
              <a:srgbClr val="2E7D6B">
                <a:alpha val="7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764317" y="2414748"/>
            <a:ext cx="79004" cy="790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909158" y="2809768"/>
            <a:ext cx="65837" cy="65837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73568" y="2093976"/>
            <a:ext cx="435254" cy="-279806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08822" y="1814170"/>
            <a:ext cx="435254" cy="354421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44077" y="2168591"/>
            <a:ext cx="435254" cy="-261153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79331" y="1907438"/>
            <a:ext cx="404165" cy="404165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83496" y="2311603"/>
            <a:ext cx="435254" cy="-267371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32420" y="2052828"/>
            <a:ext cx="55961" cy="55961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86700" y="2007108"/>
            <a:ext cx="118140" cy="11814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67674" y="1773022"/>
            <a:ext cx="55961" cy="55961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21954" y="1727302"/>
            <a:ext cx="118140" cy="118140"/>
          </a:xfrm>
          <a:prstGeom prst="ellipse">
            <a:avLst/>
          </a:prstGeom>
          <a:solidFill>
            <a:srgbClr val="2E7D6B">
              <a:alpha val="25000"/>
            </a:srgbClr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2929" y="2127443"/>
            <a:ext cx="55961" cy="55961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57209" y="2081723"/>
            <a:ext cx="118140" cy="11814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38183" y="1866290"/>
            <a:ext cx="55961" cy="55961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92463" y="1820570"/>
            <a:ext cx="118140" cy="118140"/>
          </a:xfrm>
          <a:prstGeom prst="ellipse">
            <a:avLst/>
          </a:prstGeom>
          <a:solidFill>
            <a:srgbClr val="2E7D6B">
              <a:alpha val="25000"/>
            </a:srgbClr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42348" y="2270455"/>
            <a:ext cx="55961" cy="55961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596628" y="2224735"/>
            <a:ext cx="118140" cy="11814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077602" y="2003085"/>
            <a:ext cx="55961" cy="55961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31882" y="1957365"/>
            <a:ext cx="118140" cy="118140"/>
          </a:xfrm>
          <a:prstGeom prst="ellipse">
            <a:avLst/>
          </a:prstGeom>
          <a:solidFill>
            <a:srgbClr val="2E7D6B">
              <a:alpha val="25000"/>
            </a:srgbClr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5840" y="5504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8680" y="1691640"/>
            <a:ext cx="2331720" cy="841248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43560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3657600" y="1691640"/>
            <a:ext cx="2331720" cy="841248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2219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22452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6446520" y="1691640"/>
            <a:ext cx="2331720" cy="841248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1344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9235440" y="16916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0003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80236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20" dirty="0"/>
          </a:p>
        </p:txBody>
      </p:sp>
      <p:sp>
        <p:nvSpPr>
          <p:cNvPr id="59" name="Shape 57"/>
          <p:cNvSpPr/>
          <p:nvPr/>
        </p:nvSpPr>
        <p:spPr>
          <a:xfrm>
            <a:off x="868680" y="30632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3272" y="3227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35608" y="32644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20" dirty="0"/>
          </a:p>
        </p:txBody>
      </p:sp>
      <p:sp>
        <p:nvSpPr>
          <p:cNvPr id="62" name="Shape 60"/>
          <p:cNvSpPr/>
          <p:nvPr/>
        </p:nvSpPr>
        <p:spPr>
          <a:xfrm>
            <a:off x="3657600" y="30632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22192" y="3227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224528" y="32644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20" dirty="0"/>
          </a:p>
        </p:txBody>
      </p:sp>
      <p:sp>
        <p:nvSpPr>
          <p:cNvPr id="65" name="Shape 63"/>
          <p:cNvSpPr/>
          <p:nvPr/>
        </p:nvSpPr>
        <p:spPr>
          <a:xfrm>
            <a:off x="6446520" y="30632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11112" y="3227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013448" y="32644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20" dirty="0"/>
          </a:p>
        </p:txBody>
      </p:sp>
      <p:sp>
        <p:nvSpPr>
          <p:cNvPr id="68" name="Shape 66"/>
          <p:cNvSpPr/>
          <p:nvPr/>
        </p:nvSpPr>
        <p:spPr>
          <a:xfrm>
            <a:off x="868680" y="5074920"/>
            <a:ext cx="1033272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8992" y="5221224"/>
            <a:ext cx="7315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초반 3장은 발표의 문제 정의와 방향성을 결정하는 구간입니다.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4400" y="1837944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압력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880360" y="1938528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74920" y="1856232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249631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 변동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880360" y="2596896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74920" y="251460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315468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 관리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880360" y="3255264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74920" y="3172968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381304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 위험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2880360" y="3913632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74920" y="3831336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32120" y="150876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33872" y="18470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데이터에서 도출할 판단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870448" y="248716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 위험 예측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설비 이상 후보 분리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비효율 탐지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기반 질의·요약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5870448" y="4343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확인이 필요한 후보를 우선순위화하는 관점으로 표현했습니다.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SKN25 FINAL 4Team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중간발표 디자인 시안 산업 관제 다크 전체보기</dc:title>
  <dc:subject>중간발표 디자인 시안 산업 관제 다크</dc:subject>
  <dc:creator>Hermes Agent</dc:creator>
  <cp:lastModifiedBy>Hermes Agent</cp:lastModifiedBy>
  <cp:revision>1</cp:revision>
  <dcterms:created xsi:type="dcterms:W3CDTF">2026-05-25T05:57:12Z</dcterms:created>
  <dcterms:modified xsi:type="dcterms:W3CDTF">2026-05-25T05:57:12Z</dcterms:modified>
</cp:coreProperties>
</file>