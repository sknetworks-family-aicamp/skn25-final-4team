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243460">
              <a:alpha val="40000"/>
            </a:srgbClr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TTF-FMS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운영 AI Copilot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7498080" cy="594360"/>
          </a:xfrm>
          <a:prstGeom prst="roundRect">
            <a:avLst>
              <a:gd name="adj" fmla="val 12308"/>
            </a:avLst>
          </a:prstGeom>
          <a:solidFill>
            <a:srgbClr val="24346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센서 없이 이상 징후를 선별하고 AI가 운영 의사결정을 지원하는 플랫폼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SKN25 FINAL 4팀 (팀팀포)  |  이근혁 · 전운열 · 여해준 · 최원준 · 신문수  |  2026.06.26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[기획 1/4]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담당자는 결정을 못 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24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247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알람 발생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490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신호 수신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011680" y="19933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22402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240">
            <a:solidFill>
              <a:srgbClr val="E2E8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68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3134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원인을 모른다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51560" y="2679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FEMS는 데이터만 제공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011680" y="31821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65760" y="342900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15240">
            <a:solidFill>
              <a:srgbClr val="EA580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5021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조치를 못 한다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51560" y="38679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방치 → 설비 고장으로 이어짐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10515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2344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1097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3년간 80% 급등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349240" y="1463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산업용 전기요금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63440" y="23317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846320" y="2423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중소기업 95%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전기요금 부담 호소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46320" y="2834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별다른 대책 없음  (n=309개사)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320040" y="4160520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20040" y="41605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보는 것으로는 충분하지 않습니다 — AI가 결정을 지원해야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[기획 2/4]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시스템의 한계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FEMS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CMS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TTF-FMS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제공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의사결정 지원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추가 센서 필요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필요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불필요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원인 추정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자동 작업지시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FEMS+CMS 통합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46227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CMS Lite — 추가 센서 없이 전력 계량기만으로 이상 징후 선별. 풀 CMS 아님.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[기획 3/4]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우리가 만든 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1417320"/>
            <a:ext cx="315468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4173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Lite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32120" y="1417320"/>
            <a:ext cx="315468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4173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47088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2331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계량기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956816" y="21488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148840" y="173736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847088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148840" y="2331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징후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선별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648456" y="21488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840480" y="173736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47088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40480" y="2331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 추정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340096" y="21488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532120" y="173736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847088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2331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작업지시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031736" y="21488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7223760" y="173736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847088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23760" y="2331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정비이력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20040" y="4160520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320040" y="41605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FEMS + CMS Lite + AI Copilot  —  기존 계량기 그대로, 추가 센서 없음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[기획 4/4]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공백: AI FEMS는 아직 없다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1463040"/>
                <a:gridCol w="228600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수준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상용화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K-FEMS 기본형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없음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모니터링·알람 수준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K-FEMS 고급형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일부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중소기업 비용 부담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연구 단계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있음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상용화 전 (ETRI 등)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TTF-FMS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있음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공백 메움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93192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BE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393192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공백: </a:t>
            </a:r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"상용화됐지만 AI 없는 솔루션"  vs  "AI 있지만 상용화 못 한 연구"  —  그 사이를 TTF-FMS가 채웁니다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45262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공개된 홈페이지·브로셔 기준 분석. 비공개 기능 존재 가능성 배제 안 함.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[솔루션 1/5]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전체 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258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7830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데이터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21671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 계량기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55064" y="1618488"/>
            <a:ext cx="109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755648" y="12344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0160">
            <a:solidFill>
              <a:srgbClr val="E2E8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325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55648" y="17830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예측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755648" y="21671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패턴 예측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090672" y="1618488"/>
            <a:ext cx="109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191256" y="12344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13258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91256" y="17830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잔차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191256" y="21671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− 예측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26280" y="1618488"/>
            <a:ext cx="109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626864" y="12344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3258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626864" y="17830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이상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626864" y="21671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잔차 임계 초과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961888" y="1618488"/>
            <a:ext cx="109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062472" y="12344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0160">
            <a:solidFill>
              <a:srgbClr val="E2E8F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32588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062472" y="17830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062472" y="21671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 추정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7397496" y="1618488"/>
            <a:ext cx="109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7498080" y="12344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992" y="132588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498080" y="17830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작업지시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7498080" y="21671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Agent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2834640" y="249631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예측 ↔ 이상탐지 연결 고리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320040" y="4041648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320040" y="404164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데이터  </a:t>
            </a:r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R&amp;D Europe EMS (2018~2024, 81개 계량기, 6년)     </a:t>
            </a:r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검증  </a:t>
            </a:r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Hub 국내 63개 업체, 461개 설비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[솔루션 2/5]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모듈: 소비 예측 + 피크 예측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 전력 예측 모델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53619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148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전력 패턴 학습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532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9169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잔차 계산 (실측 − 예측)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3009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685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이상탐지 활용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977640"/>
            <a:ext cx="3749040" cy="320040"/>
          </a:xfrm>
          <a:prstGeom prst="roundRect">
            <a:avLst>
              <a:gd name="adj" fmla="val 14286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예측이 목적이 아니라 잔차 계산이 목적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0040" y="43159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45개 계량기 개인화 / 1시간 단위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09160" y="100584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피크 예측 모델</a:t>
            </a:r>
            <a:endParaRPr lang="en-US" sz="14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36192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754880" y="2148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최대수요전력 예측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754880" y="2532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754880" y="29169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피크 과금 사전 회피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754880" y="33009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754880" y="3685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FEMS 기능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892040" y="3977640"/>
            <a:ext cx="3749040" cy="320040"/>
          </a:xfrm>
          <a:prstGeom prst="roundRect">
            <a:avLst>
              <a:gd name="adj" fmla="val 14286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9204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최대수요전력 기반 피크 관리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709160" y="43159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계량기 4개 / 15분 단위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[솔루션 3/5]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이상탐지: 잔차 기반 주력 + 폴백 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주력 경로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잔차 계산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− 예측값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20299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221992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219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임계값 초과 여부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478024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시간대별 2~98 퍼센타일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27432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2935224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352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후보 탐지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19125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IsolationForest 보조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1005840"/>
            <a:ext cx="2926080" cy="283464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0058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폴백 경로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97880" y="1444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주력 실패 또는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부족 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1993392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9933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46888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IsolationForest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2944368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9443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LSTM-AE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0760" y="3456432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 다수결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977640"/>
            <a:ext cx="8503920" cy="475488"/>
          </a:xfrm>
          <a:prstGeom prst="roundRect">
            <a:avLst>
              <a:gd name="adj" fmla="val 1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9776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후보 목록  →  LLM 원인 추정  →  작업지시 생성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" y="45079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고장을 확정 진단하지 않습니다. 이상 징후를 선별하고 점검 우선순위를 제시합니다.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[솔루션 4/5]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Copilot: 의사결정 지원 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105156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2161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질문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07408" y="17190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17520" y="1837944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874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오케스트레이터: 의도분류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21671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룰 70% + LLM 폴백 30%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92%  /  레이턴시 ~3,700ms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07408" y="25054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2624328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6609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전용 Agent 라우팅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9535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· 이상탐지 · 보고서 · 예측 · 도메인지식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07408" y="32918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17520" y="3410712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34472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/ 지식 조회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373989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직접 조회 · VectorDB 검색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07408" y="407822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017520" y="4197096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43616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LLM이 임의로 수치를 생성하지 않는 구조. DB 조회 결과만 답변.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[솔루션 5/5]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사용 시나리오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777240" cy="804672"/>
          </a:xfrm>
          <a:prstGeom prst="roundRect">
            <a:avLst>
              <a:gd name="adj" fmla="val 705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777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1005840"/>
            <a:ext cx="5029200" cy="804672"/>
          </a:xfrm>
          <a:prstGeom prst="roundRect">
            <a:avLst>
              <a:gd name="adj" fmla="val 7955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1887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60704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알림으로 이상 탐지 알람 수신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1005840"/>
            <a:ext cx="2423160" cy="804672"/>
          </a:xfrm>
          <a:prstGeom prst="roundRect">
            <a:avLst>
              <a:gd name="adj" fmla="val 795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0424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46520" y="1280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수동으로 대시보드 확인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1965960"/>
            <a:ext cx="777240" cy="804672"/>
          </a:xfrm>
          <a:prstGeom prst="roundRect">
            <a:avLst>
              <a:gd name="adj" fmla="val 705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1965960"/>
            <a:ext cx="777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188720" y="1965960"/>
            <a:ext cx="5029200" cy="804672"/>
          </a:xfrm>
          <a:prstGeom prst="roundRect">
            <a:avLst>
              <a:gd name="adj" fmla="val 7955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14884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783080" y="2020824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Copilot: "어제 3번 펌프에 무슨 일이 있었어?"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COPDrop 이상 징후 / 냉매 계통 이상 가능성 / 점검 권장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0" y="1965960"/>
            <a:ext cx="2423160" cy="804672"/>
          </a:xfrm>
          <a:prstGeom prst="roundRect">
            <a:avLst>
              <a:gd name="adj" fmla="val 795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46520" y="20025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44652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SQL 조회 또는 담당자 문의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74320" y="2926080"/>
            <a:ext cx="777240" cy="804672"/>
          </a:xfrm>
          <a:prstGeom prst="roundRect">
            <a:avLst>
              <a:gd name="adj" fmla="val 705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4320" y="2926080"/>
            <a:ext cx="777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08:10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1188720" y="2926080"/>
            <a:ext cx="5029200" cy="804672"/>
          </a:xfrm>
          <a:prstGeom prst="roundRect">
            <a:avLst>
              <a:gd name="adj" fmla="val 7955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310896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783080" y="2980944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작업지시 자동 생성 → 칸반 등록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00800" y="2926080"/>
            <a:ext cx="2423160" cy="804672"/>
          </a:xfrm>
          <a:prstGeom prst="roundRect">
            <a:avLst>
              <a:gd name="adj" fmla="val 795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46520" y="296265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44652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수기 작성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274320" y="3886200"/>
            <a:ext cx="777240" cy="804672"/>
          </a:xfrm>
          <a:prstGeom prst="roundRect">
            <a:avLst>
              <a:gd name="adj" fmla="val 705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74320" y="3886200"/>
            <a:ext cx="777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08:15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1188720" y="3886200"/>
            <a:ext cx="5029200" cy="804672"/>
          </a:xfrm>
          <a:prstGeom prst="roundRect">
            <a:avLst>
              <a:gd name="adj" fmla="val 7955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06908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783080" y="3941064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점검 → 조치 결과 기록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400800" y="3886200"/>
            <a:ext cx="2423160" cy="804672"/>
          </a:xfrm>
          <a:prstGeom prst="roundRect">
            <a:avLst>
              <a:gd name="adj" fmla="val 795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446520" y="392277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6446520" y="4160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[성능 1/4]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성능: Import P-Max &amp; v84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P-Max  (AI Hub 재학습)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개선율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889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개선율 중앙값  +17.5%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2186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결과 범위 11~18% 이내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4930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(40개 유효 설비 기준)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FFFBE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v84 앙상블  (Honda 가중치 그대로)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481328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470916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33 / 56개 설비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278892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5240">
            <a:solidFill>
              <a:srgbClr val="991B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788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정확도 아님
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대비 RMSE가 개선된 설비 비율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3429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= 직전값을 반복하는 기준 모델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59%: 56개 유효 설비 중 33개에서 Persistence 대비 RMSE 개선. 정확도 아님.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[성능 2/4]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이상탐지 성능: AI Hub 검증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1645920"/>
              </a:tblGrid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Honda 가중치 그대로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Hub 재학습 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Honda 기준값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37.53%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20.04% 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오탐율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31.10%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11.77% 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2834640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283464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오탐율 </a:t>
            </a:r>
            <a:pPr algn="ctr"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31.10%  →  11.77%</a:t>
            </a:r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(−19.33%p 개선)  |  경보율 </a:t>
            </a:r>
            <a:pPr algn="ctr"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20.04%</a:t>
            </a:r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Honda 기준 17.79% 방향 근접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20040" y="3520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비지도 학습 특성상 정답 라벨 없음. 경보율·오탐율 기준 평가.  ※ AI Hub 63개 업체 461개 설비 Mobile Energy Meter 직접 계측.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[성능 3/4]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 성능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DBEAFE"/>
          </a:solidFill>
          <a:ln w="1524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의도분류 정확도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984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골든셋 100문항 기준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DCFCE7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sLLM 종합점수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29844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 / 10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0" y="1984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Gemma4 12B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7ED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레이턴시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~3,700ms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80760" y="1984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keep_alive 최적화 후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14600"/>
          <a:ext cx="85039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1371600"/>
                <a:gridCol w="2834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레이턴시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gpt-5.5 (기준선)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~17s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클라우드 기준선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Gemma4 12B  ← 채택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품질 경로 (진단·보고서)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EXAONE 3.5 7.8B  ← 채택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~3.7s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속도 경로 (의도분류)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참고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Qwen2.5 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비채택 (중국어 전환)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평가자: gpt-5.5-as-Judge (GPT-5.5가 평가자 역할) / 33문항 / 5축 10점 척도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[성능 4/4]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검증: Honda → AI Hub 전이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0" cy="804672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학습 모델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EMS 6년치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66160" y="1005840"/>
            <a:ext cx="2560320" cy="804672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0058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Hub 국내 제조설비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444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63개 업체 · 461개 설비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17520" y="117043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" y="1993392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BE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2996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v84 앙상블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40864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  (33/56 설비)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가중치 그대로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2186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재학습 후 39%※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993392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0FDF4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02996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P-Max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340864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 / +17.5%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29260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Hub 재학습 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32186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가중치 그대로: 성능 붕괴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913632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91363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구조는 전이 가능  /  가중치는 도메인별 재학습 필요  →  고객사 데이터 재학습 설계의 근거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v84 재학습 39%는 27일치 데이터로 bundle_168 LSTM이 정상 학습 불가(최소 42일치 필요)한 결과. 구조 문제 아님.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[시연]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시연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1828800" cy="26517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20700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993392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606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시뮬레이터 재생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304495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발생 → HIGH 알람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350008" y="224028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606040" y="1097280"/>
            <a:ext cx="1828800" cy="26517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120700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993392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97480" y="2606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 내역 확인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651760" y="304495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원인 분석 · 전후 24h 시계열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453128" y="224028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709160" y="1097280"/>
            <a:ext cx="1828800" cy="26517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03520" y="120700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03520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993392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00600" y="2606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작업지시 생성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754880" y="304495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상태 → 작업지시 칸반 등록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556248" y="224028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6812280" y="1097280"/>
            <a:ext cx="1828800" cy="26517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06640" y="120700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406640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1993392"/>
            <a:ext cx="502920" cy="5029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03720" y="2606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858000" y="304495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질문 → DB 조회 → 답변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데모 데이터: Honda 독일 시설 기반. 요금 단위 EUR → 실제 도입 시 KRW + 한전 요금 체계로 전환.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[BM 1/3]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비교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463040"/>
                <a:gridCol w="2011680"/>
              </a:tblGrid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K-FEMS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기본형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K-FEMS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고급형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민간 CMS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TTF-FMS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이상탐지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원인 추정 지원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작업지시 생성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자연어 질의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추가 센서 불필요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FEMS+CMS 통합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중소기업 접근 가능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각 사 공개 홈페이지·브로셔 기준. 비공개 기능 존재 가능성 배제 안 함.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[BM 2/3]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수익화 전략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115568"/>
            <a:ext cx="731520" cy="438912"/>
          </a:xfrm>
          <a:prstGeom prst="roundRect">
            <a:avLst>
              <a:gd name="adj" fmla="val 1041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11556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바우처 진입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정부 스마트공장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보급사업 바우처 활용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초기 비용 최소화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레퍼런스·실증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확보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35808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115568"/>
            <a:ext cx="731520" cy="438912"/>
          </a:xfrm>
          <a:prstGeom prst="roundRect">
            <a:avLst>
              <a:gd name="adj" fmla="val 1041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11556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6276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등록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20848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K-FEMS Pool 등록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정부 보급사업 연계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4015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공신력 확보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16168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DCFCE7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1115568"/>
            <a:ext cx="731520" cy="438912"/>
          </a:xfrm>
          <a:prstGeom prst="roundRect">
            <a:avLst>
              <a:gd name="adj" fmla="val 1041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111556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16276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구독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20848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월정액 / 계량기 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과금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데이터 누적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재학습 모델 고도화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4015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데이터 락인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이탈 방지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370832"/>
            <a:ext cx="8503920" cy="41148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3708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타깃: 기존 전력 계량기 보유 중소 제조기업 — 추가 하드웨어 투자 없이 즉시 도입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[BM 3/3]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 효과: 얼마나 절감됩니까?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4.99%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절감율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한국산업단지공단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1,191개사 실측 기반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0058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DCFCE7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0972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약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150만원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27832" y="19659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절감 추정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27832" y="22860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전기요금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3,000만원 기준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44184" y="10058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44184" y="10972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44184" y="19659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투자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44184" y="22860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계량기 활용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 불필요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73552"/>
          <a:ext cx="85039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3035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효과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에너지 절감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평균 4.99%  (한국산업단지공단 1,191개사 실측 기반)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피크 과금 회피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15분 단위 피크 예측으로 한전 최대수요전력 요금제 사전 대응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작업지시 자동화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수기 작성 시간 절감 / 칸반 자동 등록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추가 투자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  (기존 전력 계량기 활용)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4.99%는 PoC 기준 시뮬레이션 수치. 실제 현장 적용 시 달라질 수 있음.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[마무리 1/2]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19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국내 중소 제조기업 파일럿 도입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현장 데이터 재학습  ★ 최우선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95728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RunPod → 온프레미스 GPU 전환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(OLLAMA_URL 교체만으로 가능)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DCFCE7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05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중장기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48132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진동·온도 센서 연계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Full CMS 전환 (v2.0)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13969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멀티테넌트 자동화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79806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탄소 배출권 연계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520440"/>
            <a:ext cx="8503920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한계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CMS 수준: CMS Lite (이상 징후 선별)  /  진동·온도 센서 정밀 진단 대체 아님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학습 데이터: Honda EMS  /  국내 현장 데이터 재학습 필요  /  sLLM: RunPod PoC 단계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243460">
              <a:alpha val="45000"/>
            </a:srgbClr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센서 없이 이상 징후를 선별하고
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운영 의사결정을 지원하는
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운영 AI Copilot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TTF-FMS  —  SKN25 FINAL 4팀 (팀팀포)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243460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TTF-FMS 최종발표</dc:title>
  <dc:subject>PptxGenJS Presentation</dc:subject>
  <dc:creator>SKN25 FINAL 4팀 (팀팀포)</dc:creator>
  <cp:lastModifiedBy>SKN25 FINAL 4팀 (팀팀포)</cp:lastModifiedBy>
  <cp:revision>1</cp:revision>
  <dcterms:created xsi:type="dcterms:W3CDTF">2026-06-15T05:26:22Z</dcterms:created>
  <dcterms:modified xsi:type="dcterms:W3CDTF">2026-06-15T05:26:22Z</dcterms:modified>
</cp:coreProperties>
</file>